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2"/>
    <p:sldId id="272" r:id="rId3"/>
    <p:sldId id="257" r:id="rId4"/>
    <p:sldId id="273" r:id="rId5"/>
    <p:sldId id="275" r:id="rId6"/>
    <p:sldId id="263" r:id="rId7"/>
    <p:sldId id="276" r:id="rId8"/>
    <p:sldId id="277" r:id="rId9"/>
    <p:sldId id="278" r:id="rId10"/>
    <p:sldId id="279" r:id="rId11"/>
    <p:sldId id="264" r:id="rId12"/>
    <p:sldId id="280" r:id="rId13"/>
    <p:sldId id="269" r:id="rId14"/>
    <p:sldId id="274" r:id="rId15"/>
    <p:sldId id="281" r:id="rId16"/>
    <p:sldId id="28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F2D52"/>
    <a:srgbClr val="161F56"/>
    <a:srgbClr val="001D45"/>
    <a:srgbClr val="0D854E"/>
    <a:srgbClr val="00431B"/>
    <a:srgbClr val="FDFDFD"/>
    <a:srgbClr val="E7E7E8"/>
    <a:srgbClr val="EDE7E3"/>
    <a:srgbClr val="011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1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0580-617F-76BF-6BC5-86A2E07E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B9431-8614-CF8E-687E-CE1AC84B1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880B0-FD40-6920-02DE-79BFAA79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F359B-5652-1A94-1A99-D5F1F10B81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2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61ED0-8DE8-7D9D-C376-0F3A6B08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E7FE8-BC90-8FAD-0520-15DD62503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32D9A-7A5C-983C-9016-1DFD5C97C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D55BB-58A6-8A45-5A6A-ACCAA01630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0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FF8E-FE2A-82F7-3B45-8DA5AD80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E7A30-1260-1021-E04D-47E3747A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CD30B-B229-68BF-B9BA-9C164B95A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D60FC-BD1C-90BF-EE65-FA4AAC5A8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42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C3A8-F34A-630A-29D9-7748BEED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EC3BE-995B-C84E-C298-8AC1359E9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095CD-B408-4AC1-8A39-3F0D6FC10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18B25-A4AB-CEB3-C3B6-69B33A04D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7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34E0D-C498-387D-FCB0-258E3D1C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AB756-081F-A795-E840-41AE05E52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4C075-D448-DD23-2867-FB598D247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D20D9-AAFF-2C40-0C24-615A46AC3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57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16D6-5B63-4E6E-7A35-C318A464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A1E6D-6EA7-B413-8983-3034B29AA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DD763-BF63-4A07-D670-1F3F9F75E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FFC88-3275-78B2-874B-5955D843F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07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911F5-8742-0D3B-571D-54CE2699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8E8FB-DB51-40A7-60D2-44EDF937D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7E1C6-1F72-BD56-506D-3EBFD7693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00003-19C0-A71D-A290-9CD9B61B6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941F-42CE-80A3-FE65-D31A9A41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AF00B-CFF3-A677-52CA-58EE4F0CA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02B36-957C-2371-5A9E-28D2F085F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D09F1-0615-08FA-803A-C4043EE0E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16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774E-A8C0-C43F-71ED-EABBDC88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825B8-B39A-FE92-FB81-70D43D0A1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27E53-A44F-9175-1B0C-4C53E3683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B3C6D-7821-7A26-8A53-CA2D74D2B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55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BE46-1362-8AD4-DD9A-31194782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0C7B8-B509-8B0A-8651-996716B8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10789-50BA-199D-2D85-48A8C9D59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7DBB0-17C4-80AA-5891-5143B9CD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88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2A9F-41A2-6F5A-C891-2B74A1CD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74FBD-4EDD-408F-9A26-C1E2C5302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49DB6-C19F-89AB-8190-C489F054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51875-184A-CB5B-9757-93EE49758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18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1233-5BF2-638F-97E1-DEC7CB47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5BF30-1ED5-4FAD-93B4-9E1D4B170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656F5-D78C-10B4-DBCE-3171E113A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DAD4-A19E-1ECB-43F5-23C4482AA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14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C01DD-025E-219D-760B-132F95E7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D8CF7059-18E6-CC12-A47F-C0ECE97D9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911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FD2B28A-56C4-7D11-DEE6-2FA531341C98}"/>
              </a:ext>
            </a:extLst>
          </p:cNvPr>
          <p:cNvSpPr/>
          <p:nvPr/>
        </p:nvSpPr>
        <p:spPr>
          <a:xfrm>
            <a:off x="358726" y="4909625"/>
            <a:ext cx="815926" cy="154744"/>
          </a:xfrm>
          <a:prstGeom prst="rect">
            <a:avLst/>
          </a:prstGeom>
          <a:solidFill>
            <a:srgbClr val="011D44"/>
          </a:solidFill>
          <a:ln>
            <a:solidFill>
              <a:srgbClr val="011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901607-8E43-4749-62A3-372556E0661A}"/>
              </a:ext>
            </a:extLst>
          </p:cNvPr>
          <p:cNvSpPr txBox="1"/>
          <p:nvPr/>
        </p:nvSpPr>
        <p:spPr>
          <a:xfrm>
            <a:off x="358726" y="4848497"/>
            <a:ext cx="977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2025-26</a:t>
            </a:r>
            <a:endParaRPr lang="en-PK" sz="12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8D5871-37AD-9429-9C23-9B7C419061E9}"/>
              </a:ext>
            </a:extLst>
          </p:cNvPr>
          <p:cNvSpPr/>
          <p:nvPr/>
        </p:nvSpPr>
        <p:spPr>
          <a:xfrm>
            <a:off x="436098" y="281354"/>
            <a:ext cx="977704" cy="872197"/>
          </a:xfrm>
          <a:prstGeom prst="rect">
            <a:avLst/>
          </a:prstGeom>
          <a:solidFill>
            <a:srgbClr val="011D44"/>
          </a:solidFill>
          <a:ln>
            <a:solidFill>
              <a:srgbClr val="011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A1E01A1-65D7-5BE0-9BD1-DA83F050A7DA}"/>
              </a:ext>
            </a:extLst>
          </p:cNvPr>
          <p:cNvSpPr/>
          <p:nvPr/>
        </p:nvSpPr>
        <p:spPr>
          <a:xfrm>
            <a:off x="481819" y="188155"/>
            <a:ext cx="763172" cy="1058594"/>
          </a:xfrm>
          <a:prstGeom prst="triangle">
            <a:avLst/>
          </a:prstGeom>
          <a:solidFill>
            <a:srgbClr val="011D44"/>
          </a:solidFill>
          <a:ln>
            <a:solidFill>
              <a:srgbClr val="011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C77FD08-99DE-58F6-06E9-3527F97C0C19}"/>
              </a:ext>
            </a:extLst>
          </p:cNvPr>
          <p:cNvSpPr/>
          <p:nvPr/>
        </p:nvSpPr>
        <p:spPr>
          <a:xfrm>
            <a:off x="717452" y="886265"/>
            <a:ext cx="573260" cy="453683"/>
          </a:xfrm>
          <a:prstGeom prst="ellipse">
            <a:avLst/>
          </a:prstGeom>
          <a:solidFill>
            <a:srgbClr val="011D44"/>
          </a:solidFill>
          <a:ln>
            <a:solidFill>
              <a:srgbClr val="011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05C5A0-280A-53E7-81A9-928FEC316A61}"/>
              </a:ext>
            </a:extLst>
          </p:cNvPr>
          <p:cNvSpPr/>
          <p:nvPr/>
        </p:nvSpPr>
        <p:spPr>
          <a:xfrm>
            <a:off x="376312" y="187736"/>
            <a:ext cx="914400" cy="914400"/>
          </a:xfrm>
          <a:prstGeom prst="rect">
            <a:avLst/>
          </a:prstGeom>
          <a:solidFill>
            <a:srgbClr val="011D44"/>
          </a:solidFill>
          <a:ln>
            <a:solidFill>
              <a:srgbClr val="011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F026AAC-EFDA-261A-5FAC-59A186079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98" y="326654"/>
            <a:ext cx="931986" cy="93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1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D8E6F-75D4-C08F-F12F-E71886A7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D2CAE9-F936-7356-A324-CD3F378622E3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1DA2AF-A70E-BB50-4339-D4DD57223115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5CEBA67-AA8A-FBC0-D193-F167DC60D1B8}"/>
              </a:ext>
            </a:extLst>
          </p:cNvPr>
          <p:cNvSpPr/>
          <p:nvPr/>
        </p:nvSpPr>
        <p:spPr>
          <a:xfrm>
            <a:off x="457200" y="708565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/>
              <a:t>Table of Content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0E1A4EA-4F45-300B-0F28-6A24D82364F2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7024C12-9B28-7A52-BDE7-7250DA07CCE3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EEC7B5B-3F15-041E-EB8C-FE3D4595F138}"/>
              </a:ext>
            </a:extLst>
          </p:cNvPr>
          <p:cNvSpPr/>
          <p:nvPr/>
        </p:nvSpPr>
        <p:spPr>
          <a:xfrm>
            <a:off x="896112" y="14173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C29C66-B455-1F83-1EC0-0A9E0560F0C1}"/>
              </a:ext>
            </a:extLst>
          </p:cNvPr>
          <p:cNvSpPr/>
          <p:nvPr/>
        </p:nvSpPr>
        <p:spPr>
          <a:xfrm>
            <a:off x="896112" y="16550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911C42D-EBA6-90C5-DF3F-1B42F3E6B786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526B97-1DD9-BAE0-B097-CF272EFF43BA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87CE1BF-34F8-0DF4-650E-7ACD72E8F732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ED4477A-9021-D058-A0A2-E2EEB6072E3E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>
              <a:solidFill>
                <a:schemeClr val="bg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7A42A06-DBA7-9567-2363-1D396C130E64}"/>
              </a:ext>
            </a:extLst>
          </p:cNvPr>
          <p:cNvGrpSpPr/>
          <p:nvPr/>
        </p:nvGrpSpPr>
        <p:grpSpPr>
          <a:xfrm>
            <a:off x="880870" y="1361743"/>
            <a:ext cx="13002770" cy="2934921"/>
            <a:chOff x="515110" y="1351583"/>
            <a:chExt cx="13002770" cy="2934921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95B3C3C-07EA-4ECF-CFA5-91C540D9A90A}"/>
                </a:ext>
              </a:extLst>
            </p:cNvPr>
            <p:cNvSpPr/>
            <p:nvPr/>
          </p:nvSpPr>
          <p:spPr>
            <a:xfrm>
              <a:off x="522732" y="3866227"/>
              <a:ext cx="3081528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3A772D31-8E01-A5E2-326F-4036C5BEB567}"/>
                </a:ext>
              </a:extLst>
            </p:cNvPr>
            <p:cNvSpPr/>
            <p:nvPr/>
          </p:nvSpPr>
          <p:spPr>
            <a:xfrm>
              <a:off x="4373880" y="1461667"/>
              <a:ext cx="3048000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EF2B95BA-0C8E-94B7-FB50-FEDE713D5973}"/>
                </a:ext>
              </a:extLst>
            </p:cNvPr>
            <p:cNvSpPr/>
            <p:nvPr/>
          </p:nvSpPr>
          <p:spPr>
            <a:xfrm>
              <a:off x="4373880" y="2062289"/>
              <a:ext cx="3048000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FFBA965-779C-D1C8-3E27-16A808700AF2}"/>
                </a:ext>
              </a:extLst>
            </p:cNvPr>
            <p:cNvGrpSpPr/>
            <p:nvPr/>
          </p:nvGrpSpPr>
          <p:grpSpPr>
            <a:xfrm>
              <a:off x="545592" y="1351583"/>
              <a:ext cx="12972288" cy="2314189"/>
              <a:chOff x="1757172" y="1553393"/>
              <a:chExt cx="12972288" cy="231418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C3CA85-CCDA-7EAA-FF43-1AA7AA525C57}"/>
                  </a:ext>
                </a:extLst>
              </p:cNvPr>
              <p:cNvSpPr txBox="1"/>
              <p:nvPr/>
            </p:nvSpPr>
            <p:spPr>
              <a:xfrm>
                <a:off x="7421880" y="1553393"/>
                <a:ext cx="7307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PK" dirty="0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91E1072-3BEF-F97F-59C3-170B627ADCEA}"/>
                  </a:ext>
                </a:extLst>
              </p:cNvPr>
              <p:cNvSpPr/>
              <p:nvPr/>
            </p:nvSpPr>
            <p:spPr>
              <a:xfrm>
                <a:off x="1760220" y="1691064"/>
                <a:ext cx="3055620" cy="393192"/>
              </a:xfrm>
              <a:prstGeom prst="roundRect">
                <a:avLst/>
              </a:prstGeom>
              <a:solidFill>
                <a:srgbClr val="011D44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5CF01E0B-2488-3CFE-E177-66289CA95DC3}"/>
                  </a:ext>
                </a:extLst>
              </p:cNvPr>
              <p:cNvSpPr/>
              <p:nvPr/>
            </p:nvSpPr>
            <p:spPr>
              <a:xfrm>
                <a:off x="1760220" y="2270605"/>
                <a:ext cx="3055620" cy="393192"/>
              </a:xfrm>
              <a:prstGeom prst="roundRect">
                <a:avLst/>
              </a:prstGeom>
              <a:solidFill>
                <a:srgbClr val="011D44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E00C5F67-5E5A-7BB6-35C4-BF0AE51366B2}"/>
                  </a:ext>
                </a:extLst>
              </p:cNvPr>
              <p:cNvSpPr/>
              <p:nvPr/>
            </p:nvSpPr>
            <p:spPr>
              <a:xfrm>
                <a:off x="1757172" y="2890650"/>
                <a:ext cx="3058668" cy="393192"/>
              </a:xfrm>
              <a:prstGeom prst="roundRect">
                <a:avLst/>
              </a:prstGeom>
              <a:solidFill>
                <a:srgbClr val="011D44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04B3C8D3-ACE8-8D24-375E-8DA0A3E3B495}"/>
                  </a:ext>
                </a:extLst>
              </p:cNvPr>
              <p:cNvSpPr/>
              <p:nvPr/>
            </p:nvSpPr>
            <p:spPr>
              <a:xfrm>
                <a:off x="1757172" y="3474390"/>
                <a:ext cx="3048000" cy="393192"/>
              </a:xfrm>
              <a:prstGeom prst="roundRect">
                <a:avLst/>
              </a:prstGeom>
              <a:solidFill>
                <a:srgbClr val="011D44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DEACA189-B829-2293-FC86-A3EB870404B2}"/>
                  </a:ext>
                </a:extLst>
              </p:cNvPr>
              <p:cNvSpPr/>
              <p:nvPr/>
            </p:nvSpPr>
            <p:spPr>
              <a:xfrm>
                <a:off x="1760220" y="1686103"/>
                <a:ext cx="479230" cy="393192"/>
              </a:xfrm>
              <a:prstGeom prst="roundRect">
                <a:avLst/>
              </a:prstGeom>
              <a:solidFill>
                <a:srgbClr val="00B0F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  <a:endParaRPr lang="en-PK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C2951DE0-88A7-6682-AE7A-E433EF0210C0}"/>
                  </a:ext>
                </a:extLst>
              </p:cNvPr>
              <p:cNvSpPr/>
              <p:nvPr/>
            </p:nvSpPr>
            <p:spPr>
              <a:xfrm>
                <a:off x="1760220" y="2258413"/>
                <a:ext cx="483484" cy="393192"/>
              </a:xfrm>
              <a:prstGeom prst="roundRect">
                <a:avLst/>
              </a:prstGeom>
              <a:solidFill>
                <a:srgbClr val="00B0F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  <a:endParaRPr lang="en-PK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E7D29199-C900-9F46-2E17-AAB94425115B}"/>
                  </a:ext>
                </a:extLst>
              </p:cNvPr>
              <p:cNvSpPr/>
              <p:nvPr/>
            </p:nvSpPr>
            <p:spPr>
              <a:xfrm>
                <a:off x="1757172" y="2871227"/>
                <a:ext cx="483966" cy="393192"/>
              </a:xfrm>
              <a:prstGeom prst="roundRect">
                <a:avLst/>
              </a:prstGeom>
              <a:solidFill>
                <a:srgbClr val="00B0F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  <a:endParaRPr lang="en-PK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E9E5C8BA-8424-6666-4D05-B95294BB8A71}"/>
                  </a:ext>
                </a:extLst>
              </p:cNvPr>
              <p:cNvSpPr/>
              <p:nvPr/>
            </p:nvSpPr>
            <p:spPr>
              <a:xfrm>
                <a:off x="1757172" y="3462944"/>
                <a:ext cx="482278" cy="393192"/>
              </a:xfrm>
              <a:prstGeom prst="roundRect">
                <a:avLst/>
              </a:prstGeom>
              <a:solidFill>
                <a:srgbClr val="00B0F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  <a:endParaRPr lang="en-PK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55F1316-BE0E-D08C-73DA-EADB65D2761B}"/>
                </a:ext>
              </a:extLst>
            </p:cNvPr>
            <p:cNvSpPr/>
            <p:nvPr/>
          </p:nvSpPr>
          <p:spPr>
            <a:xfrm>
              <a:off x="515110" y="3858506"/>
              <a:ext cx="512759" cy="393192"/>
            </a:xfrm>
            <a:prstGeom prst="roundRect">
              <a:avLst/>
            </a:prstGeom>
            <a:solidFill>
              <a:srgbClr val="00B0F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65318AD-99E1-53FA-7285-FFC2B317CA64}"/>
                </a:ext>
              </a:extLst>
            </p:cNvPr>
            <p:cNvSpPr/>
            <p:nvPr/>
          </p:nvSpPr>
          <p:spPr>
            <a:xfrm>
              <a:off x="4373880" y="1454789"/>
              <a:ext cx="453356" cy="393192"/>
            </a:xfrm>
            <a:prstGeom prst="roundRect">
              <a:avLst/>
            </a:prstGeom>
            <a:solidFill>
              <a:srgbClr val="00B0F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1C04D84-CF66-1ABB-7775-F07FF08E696D}"/>
                </a:ext>
              </a:extLst>
            </p:cNvPr>
            <p:cNvSpPr/>
            <p:nvPr/>
          </p:nvSpPr>
          <p:spPr>
            <a:xfrm>
              <a:off x="4381500" y="2064778"/>
              <a:ext cx="445736" cy="393192"/>
            </a:xfrm>
            <a:prstGeom prst="roundRect">
              <a:avLst/>
            </a:prstGeom>
            <a:solidFill>
              <a:srgbClr val="00B0F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8FD286C-D4E8-4194-4B41-B8BDCC2CF8CE}"/>
                </a:ext>
              </a:extLst>
            </p:cNvPr>
            <p:cNvSpPr/>
            <p:nvPr/>
          </p:nvSpPr>
          <p:spPr>
            <a:xfrm>
              <a:off x="4359776" y="2692068"/>
              <a:ext cx="3048000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A55E539-6D11-06ED-4FA0-22B827213F97}"/>
                </a:ext>
              </a:extLst>
            </p:cNvPr>
            <p:cNvSpPr/>
            <p:nvPr/>
          </p:nvSpPr>
          <p:spPr>
            <a:xfrm>
              <a:off x="4382757" y="3292690"/>
              <a:ext cx="3048000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5AB33A6-DDA3-7E0D-E0F9-B40B3C665D8E}"/>
                </a:ext>
              </a:extLst>
            </p:cNvPr>
            <p:cNvSpPr/>
            <p:nvPr/>
          </p:nvSpPr>
          <p:spPr>
            <a:xfrm>
              <a:off x="4382757" y="3893312"/>
              <a:ext cx="3048000" cy="393192"/>
            </a:xfrm>
            <a:prstGeom prst="roundRect">
              <a:avLst/>
            </a:prstGeom>
            <a:solidFill>
              <a:srgbClr val="011D44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84386259-0D45-6A62-681E-C2BBB46A2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4C324A92-68A9-BA79-02ED-8C79F1631AEF}"/>
              </a:ext>
            </a:extLst>
          </p:cNvPr>
          <p:cNvSpPr/>
          <p:nvPr/>
        </p:nvSpPr>
        <p:spPr>
          <a:xfrm>
            <a:off x="9019493" y="1417467"/>
            <a:ext cx="121124" cy="310724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CC8D36-2EDC-2421-64D0-DC145FAB7B0E}"/>
              </a:ext>
            </a:extLst>
          </p:cNvPr>
          <p:cNvSpPr/>
          <p:nvPr/>
        </p:nvSpPr>
        <p:spPr>
          <a:xfrm>
            <a:off x="806" y="1417467"/>
            <a:ext cx="121124" cy="310724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19EC861-58CB-56FC-9040-7351C9195FB5}"/>
              </a:ext>
            </a:extLst>
          </p:cNvPr>
          <p:cNvSpPr txBox="1"/>
          <p:nvPr/>
        </p:nvSpPr>
        <p:spPr>
          <a:xfrm>
            <a:off x="1442242" y="1515219"/>
            <a:ext cx="148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Introduction </a:t>
            </a:r>
          </a:p>
          <a:p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42F3338-57E2-F2DE-F125-C782C33C963F}"/>
              </a:ext>
            </a:extLst>
          </p:cNvPr>
          <p:cNvSpPr txBox="1"/>
          <p:nvPr/>
        </p:nvSpPr>
        <p:spPr>
          <a:xfrm>
            <a:off x="949789" y="2106458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Literature Review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45FF10D-1258-062C-8904-D80C0FDBF015}"/>
              </a:ext>
            </a:extLst>
          </p:cNvPr>
          <p:cNvSpPr txBox="1"/>
          <p:nvPr/>
        </p:nvSpPr>
        <p:spPr>
          <a:xfrm>
            <a:off x="776296" y="2687050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    System Overview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0237685-35FF-ADCF-4022-9B3EEE74B187}"/>
              </a:ext>
            </a:extLst>
          </p:cNvPr>
          <p:cNvSpPr txBox="1"/>
          <p:nvPr/>
        </p:nvSpPr>
        <p:spPr>
          <a:xfrm>
            <a:off x="949789" y="3302624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Dataset, Finetune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6DA594-535B-DD31-C15A-E8034DF5D733}"/>
              </a:ext>
            </a:extLst>
          </p:cNvPr>
          <p:cNvSpPr txBox="1"/>
          <p:nvPr/>
        </p:nvSpPr>
        <p:spPr>
          <a:xfrm>
            <a:off x="1206802" y="3864690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dirty="0">
                <a:solidFill>
                  <a:schemeClr val="bg1"/>
                </a:solidFill>
              </a:rPr>
              <a:t>Proposed Methodology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05D0286-B4AC-18F8-1A2A-24349A7D07AE}"/>
              </a:ext>
            </a:extLst>
          </p:cNvPr>
          <p:cNvSpPr txBox="1"/>
          <p:nvPr/>
        </p:nvSpPr>
        <p:spPr>
          <a:xfrm>
            <a:off x="5290332" y="1484114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System Result Overview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6435E0-E87B-98BE-28D4-7C210B3B9B03}"/>
              </a:ext>
            </a:extLst>
          </p:cNvPr>
          <p:cNvSpPr/>
          <p:nvPr/>
        </p:nvSpPr>
        <p:spPr>
          <a:xfrm>
            <a:off x="4725536" y="2701580"/>
            <a:ext cx="454613" cy="37340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927139-2FB5-7239-9B52-7EFF9C3BDE17}"/>
              </a:ext>
            </a:extLst>
          </p:cNvPr>
          <p:cNvSpPr/>
          <p:nvPr/>
        </p:nvSpPr>
        <p:spPr>
          <a:xfrm>
            <a:off x="4736461" y="3311729"/>
            <a:ext cx="454613" cy="37340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DA833D-3FEF-DAD8-255B-E3BF0BE0521B}"/>
              </a:ext>
            </a:extLst>
          </p:cNvPr>
          <p:cNvSpPr/>
          <p:nvPr/>
        </p:nvSpPr>
        <p:spPr>
          <a:xfrm>
            <a:off x="4725536" y="3913367"/>
            <a:ext cx="454613" cy="37340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8AADBB-7003-268C-0E77-2BDF8961D074}"/>
              </a:ext>
            </a:extLst>
          </p:cNvPr>
          <p:cNvSpPr txBox="1"/>
          <p:nvPr/>
        </p:nvSpPr>
        <p:spPr>
          <a:xfrm>
            <a:off x="4774275" y="2726088"/>
            <a:ext cx="71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en-PK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6E4580-5630-8804-6D08-786FEAB98076}"/>
              </a:ext>
            </a:extLst>
          </p:cNvPr>
          <p:cNvSpPr txBox="1"/>
          <p:nvPr/>
        </p:nvSpPr>
        <p:spPr>
          <a:xfrm>
            <a:off x="4781849" y="3305691"/>
            <a:ext cx="71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en-PK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70D253-DCAD-BD47-3AF0-4EEA7D3D6B06}"/>
              </a:ext>
            </a:extLst>
          </p:cNvPr>
          <p:cNvSpPr txBox="1"/>
          <p:nvPr/>
        </p:nvSpPr>
        <p:spPr>
          <a:xfrm>
            <a:off x="4739640" y="3906600"/>
            <a:ext cx="71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PK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82B9E3-50DD-6BAD-B311-41852F3DD9BA}"/>
              </a:ext>
            </a:extLst>
          </p:cNvPr>
          <p:cNvSpPr txBox="1"/>
          <p:nvPr/>
        </p:nvSpPr>
        <p:spPr>
          <a:xfrm>
            <a:off x="5299573" y="2099437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mbria" pitchFamily="34" charset="-122"/>
              </a:rPr>
              <a:t>System Limitations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CFE8F5-260C-0DF4-5911-4C4296AC5794}"/>
              </a:ext>
            </a:extLst>
          </p:cNvPr>
          <p:cNvSpPr txBox="1"/>
          <p:nvPr/>
        </p:nvSpPr>
        <p:spPr>
          <a:xfrm>
            <a:off x="5299573" y="2720114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mbria" pitchFamily="34" charset="-122"/>
              </a:rPr>
              <a:t>Future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BB5746-C1E8-2486-CFF7-C942386B6745}"/>
              </a:ext>
            </a:extLst>
          </p:cNvPr>
          <p:cNvSpPr txBox="1"/>
          <p:nvPr/>
        </p:nvSpPr>
        <p:spPr>
          <a:xfrm>
            <a:off x="5279253" y="3339682"/>
            <a:ext cx="28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United Nation SDGS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E94A57-4E1E-6D22-604D-C6FF0671254D}"/>
              </a:ext>
            </a:extLst>
          </p:cNvPr>
          <p:cNvSpPr txBox="1"/>
          <p:nvPr/>
        </p:nvSpPr>
        <p:spPr>
          <a:xfrm>
            <a:off x="5279253" y="3895820"/>
            <a:ext cx="695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Cambria" pitchFamily="34" charset="-122"/>
              </a:rPr>
              <a:t>Conclusion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8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832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Introduction 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14173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16550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C4B6EB-3681-2F15-2EFB-9D1145B3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AEAB129-895E-0F5A-F9C2-B34F2ECA40EC}"/>
              </a:ext>
            </a:extLst>
          </p:cNvPr>
          <p:cNvGrpSpPr/>
          <p:nvPr/>
        </p:nvGrpSpPr>
        <p:grpSpPr>
          <a:xfrm>
            <a:off x="457200" y="1655064"/>
            <a:ext cx="4114800" cy="1170432"/>
            <a:chOff x="457200" y="1417320"/>
            <a:chExt cx="4114800" cy="1170432"/>
          </a:xfrm>
          <a:solidFill>
            <a:srgbClr val="001D45"/>
          </a:solidFill>
        </p:grpSpPr>
        <p:sp>
          <p:nvSpPr>
            <p:cNvPr id="28" name="Shape 4">
              <a:extLst>
                <a:ext uri="{FF2B5EF4-FFF2-40B4-BE49-F238E27FC236}">
                  <a16:creationId xmlns:a16="http://schemas.microsoft.com/office/drawing/2014/main" id="{BEE3EB73-922B-389C-8DF0-6FFDABEE5095}"/>
                </a:ext>
              </a:extLst>
            </p:cNvPr>
            <p:cNvSpPr/>
            <p:nvPr/>
          </p:nvSpPr>
          <p:spPr>
            <a:xfrm>
              <a:off x="457200" y="1417320"/>
              <a:ext cx="4114800" cy="1170432"/>
            </a:xfrm>
            <a:prstGeom prst="roundRect">
              <a:avLst>
                <a:gd name="adj" fmla="val 6250"/>
              </a:avLst>
            </a:prstGeom>
            <a:grpFill/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Shape 5">
              <a:extLst>
                <a:ext uri="{FF2B5EF4-FFF2-40B4-BE49-F238E27FC236}">
                  <a16:creationId xmlns:a16="http://schemas.microsoft.com/office/drawing/2014/main" id="{972C9065-9C2B-75F6-E1C5-A60DBDB457AE}"/>
                </a:ext>
              </a:extLst>
            </p:cNvPr>
            <p:cNvSpPr/>
            <p:nvPr/>
          </p:nvSpPr>
          <p:spPr>
            <a:xfrm>
              <a:off x="603504" y="1591056"/>
              <a:ext cx="365760" cy="36576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30" name="Text 6">
              <a:extLst>
                <a:ext uri="{FF2B5EF4-FFF2-40B4-BE49-F238E27FC236}">
                  <a16:creationId xmlns:a16="http://schemas.microsoft.com/office/drawing/2014/main" id="{D9A7DF7C-7152-B8DB-7CC0-8C5A5ACFE85B}"/>
                </a:ext>
              </a:extLst>
            </p:cNvPr>
            <p:cNvSpPr/>
            <p:nvPr/>
          </p:nvSpPr>
          <p:spPr>
            <a:xfrm>
              <a:off x="1097280" y="1585323"/>
              <a:ext cx="3346704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Crowd Monitoring Need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DB3279BA-E723-2CD8-E8D1-82C65D64182F}"/>
                </a:ext>
              </a:extLst>
            </p:cNvPr>
            <p:cNvSpPr/>
            <p:nvPr/>
          </p:nvSpPr>
          <p:spPr>
            <a:xfrm>
              <a:off x="1088136" y="1828729"/>
              <a:ext cx="3442716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Events require accurate people counting.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C894A4-D8A4-7748-9CDA-6A33F6BB4006}"/>
              </a:ext>
            </a:extLst>
          </p:cNvPr>
          <p:cNvGrpSpPr/>
          <p:nvPr/>
        </p:nvGrpSpPr>
        <p:grpSpPr>
          <a:xfrm>
            <a:off x="4690872" y="1673352"/>
            <a:ext cx="4114800" cy="1170432"/>
            <a:chOff x="457200" y="1417320"/>
            <a:chExt cx="4114800" cy="1170432"/>
          </a:xfrm>
          <a:solidFill>
            <a:srgbClr val="001D45"/>
          </a:solidFill>
        </p:grpSpPr>
        <p:sp>
          <p:nvSpPr>
            <p:cNvPr id="35" name="Shape 4">
              <a:extLst>
                <a:ext uri="{FF2B5EF4-FFF2-40B4-BE49-F238E27FC236}">
                  <a16:creationId xmlns:a16="http://schemas.microsoft.com/office/drawing/2014/main" id="{6BE18479-3E3F-0E92-8A20-A71DBBC3A627}"/>
                </a:ext>
              </a:extLst>
            </p:cNvPr>
            <p:cNvSpPr/>
            <p:nvPr/>
          </p:nvSpPr>
          <p:spPr>
            <a:xfrm>
              <a:off x="457200" y="1417320"/>
              <a:ext cx="4114800" cy="1170432"/>
            </a:xfrm>
            <a:prstGeom prst="roundRect">
              <a:avLst>
                <a:gd name="adj" fmla="val 6250"/>
              </a:avLst>
            </a:prstGeom>
            <a:grpFill/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Shape 5">
              <a:extLst>
                <a:ext uri="{FF2B5EF4-FFF2-40B4-BE49-F238E27FC236}">
                  <a16:creationId xmlns:a16="http://schemas.microsoft.com/office/drawing/2014/main" id="{A1F8A0C3-F680-D34B-C800-820F22550133}"/>
                </a:ext>
              </a:extLst>
            </p:cNvPr>
            <p:cNvSpPr/>
            <p:nvPr/>
          </p:nvSpPr>
          <p:spPr>
            <a:xfrm>
              <a:off x="603504" y="1591056"/>
              <a:ext cx="365760" cy="36576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A7E4DF1E-5EA4-E556-D0BD-50CEF3332F99}"/>
                </a:ext>
              </a:extLst>
            </p:cNvPr>
            <p:cNvSpPr/>
            <p:nvPr/>
          </p:nvSpPr>
          <p:spPr>
            <a:xfrm>
              <a:off x="1091184" y="1587165"/>
              <a:ext cx="3346704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Counting Problem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A2747A97-DD02-7EB3-1558-F6BF2EEB32CE}"/>
                </a:ext>
              </a:extLst>
            </p:cNvPr>
            <p:cNvSpPr/>
            <p:nvPr/>
          </p:nvSpPr>
          <p:spPr>
            <a:xfrm>
              <a:off x="1097280" y="1837944"/>
              <a:ext cx="3426968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Returning persons may be counted again.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DFEC4C-7D1A-234C-EFD4-DAC6E377B6DB}"/>
              </a:ext>
            </a:extLst>
          </p:cNvPr>
          <p:cNvGrpSpPr/>
          <p:nvPr/>
        </p:nvGrpSpPr>
        <p:grpSpPr>
          <a:xfrm>
            <a:off x="457200" y="3163824"/>
            <a:ext cx="4114800" cy="1170432"/>
            <a:chOff x="457200" y="1417320"/>
            <a:chExt cx="4114800" cy="1170432"/>
          </a:xfrm>
          <a:solidFill>
            <a:srgbClr val="001D45"/>
          </a:solidFill>
        </p:grpSpPr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3CB745C8-C4A0-B1D5-A2BF-336286503682}"/>
                </a:ext>
              </a:extLst>
            </p:cNvPr>
            <p:cNvSpPr/>
            <p:nvPr/>
          </p:nvSpPr>
          <p:spPr>
            <a:xfrm>
              <a:off x="457200" y="1417320"/>
              <a:ext cx="4114800" cy="1170432"/>
            </a:xfrm>
            <a:prstGeom prst="roundRect">
              <a:avLst>
                <a:gd name="adj" fmla="val 6250"/>
              </a:avLst>
            </a:prstGeom>
            <a:grpFill/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76E21DBD-6D18-329D-3BDB-E7FE376A5337}"/>
                </a:ext>
              </a:extLst>
            </p:cNvPr>
            <p:cNvSpPr/>
            <p:nvPr/>
          </p:nvSpPr>
          <p:spPr>
            <a:xfrm>
              <a:off x="603504" y="1591056"/>
              <a:ext cx="365760" cy="36576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42" name="Text 6">
              <a:extLst>
                <a:ext uri="{FF2B5EF4-FFF2-40B4-BE49-F238E27FC236}">
                  <a16:creationId xmlns:a16="http://schemas.microsoft.com/office/drawing/2014/main" id="{2224CCA7-A538-57E7-AE65-BC21E889B195}"/>
                </a:ext>
              </a:extLst>
            </p:cNvPr>
            <p:cNvSpPr/>
            <p:nvPr/>
          </p:nvSpPr>
          <p:spPr>
            <a:xfrm>
              <a:off x="1097280" y="1527048"/>
              <a:ext cx="3346704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 Re-ID Concept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EDEC15F5-B861-4B13-B4A3-0C93345E9823}"/>
                </a:ext>
              </a:extLst>
            </p:cNvPr>
            <p:cNvSpPr/>
            <p:nvPr/>
          </p:nvSpPr>
          <p:spPr>
            <a:xfrm>
              <a:off x="1097280" y="1837944"/>
              <a:ext cx="3346704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Recognizes previously seen individuals.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339D693-0ED2-B558-B34F-041D86034ACC}"/>
              </a:ext>
            </a:extLst>
          </p:cNvPr>
          <p:cNvGrpSpPr/>
          <p:nvPr/>
        </p:nvGrpSpPr>
        <p:grpSpPr>
          <a:xfrm>
            <a:off x="4684776" y="3163824"/>
            <a:ext cx="4114800" cy="1170432"/>
            <a:chOff x="457200" y="1417320"/>
            <a:chExt cx="4114800" cy="1170432"/>
          </a:xfrm>
          <a:solidFill>
            <a:srgbClr val="001D45"/>
          </a:solidFill>
        </p:grpSpPr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64C8FC60-791E-F4FA-1525-4E5B9DEBA566}"/>
                </a:ext>
              </a:extLst>
            </p:cNvPr>
            <p:cNvSpPr/>
            <p:nvPr/>
          </p:nvSpPr>
          <p:spPr>
            <a:xfrm>
              <a:off x="457200" y="1417320"/>
              <a:ext cx="4114800" cy="1170432"/>
            </a:xfrm>
            <a:prstGeom prst="roundRect">
              <a:avLst>
                <a:gd name="adj" fmla="val 6250"/>
              </a:avLst>
            </a:prstGeom>
            <a:grpFill/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Shape 5">
              <a:extLst>
                <a:ext uri="{FF2B5EF4-FFF2-40B4-BE49-F238E27FC236}">
                  <a16:creationId xmlns:a16="http://schemas.microsoft.com/office/drawing/2014/main" id="{7B667BFF-7B1C-C51E-8E18-9997F30BFA1D}"/>
                </a:ext>
              </a:extLst>
            </p:cNvPr>
            <p:cNvSpPr/>
            <p:nvPr/>
          </p:nvSpPr>
          <p:spPr>
            <a:xfrm>
              <a:off x="603504" y="1591056"/>
              <a:ext cx="365760" cy="365760"/>
            </a:xfrm>
            <a:prstGeom prst="ellipse">
              <a:avLst/>
            </a:prstGeom>
            <a:solidFill>
              <a:srgbClr val="00B05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47" name="Text 6">
              <a:extLst>
                <a:ext uri="{FF2B5EF4-FFF2-40B4-BE49-F238E27FC236}">
                  <a16:creationId xmlns:a16="http://schemas.microsoft.com/office/drawing/2014/main" id="{00E0AF88-D092-BE59-713C-03DDEC557727}"/>
                </a:ext>
              </a:extLst>
            </p:cNvPr>
            <p:cNvSpPr/>
            <p:nvPr/>
          </p:nvSpPr>
          <p:spPr>
            <a:xfrm>
              <a:off x="1097280" y="1527048"/>
              <a:ext cx="3346704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Main Aim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8" name="Text 7">
              <a:extLst>
                <a:ext uri="{FF2B5EF4-FFF2-40B4-BE49-F238E27FC236}">
                  <a16:creationId xmlns:a16="http://schemas.microsoft.com/office/drawing/2014/main" id="{A5881CEC-F008-0917-9DC2-7CCA28A4F380}"/>
                </a:ext>
              </a:extLst>
            </p:cNvPr>
            <p:cNvSpPr/>
            <p:nvPr/>
          </p:nvSpPr>
          <p:spPr>
            <a:xfrm>
              <a:off x="1097280" y="1837944"/>
              <a:ext cx="3346704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Reduces </a:t>
              </a:r>
              <a:r>
                <a:rPr lang="en-US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repeated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counting errors.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FFAAA60-E1B5-43F6-D8B9-902C8F007F11}"/>
              </a:ext>
            </a:extLst>
          </p:cNvPr>
          <p:cNvSpPr txBox="1"/>
          <p:nvPr/>
        </p:nvSpPr>
        <p:spPr>
          <a:xfrm>
            <a:off x="603504" y="1847921"/>
            <a:ext cx="66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01</a:t>
            </a:r>
            <a:endParaRPr lang="en-PK" sz="1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DCD00A-D14C-4472-8D58-B6C451706B52}"/>
              </a:ext>
            </a:extLst>
          </p:cNvPr>
          <p:cNvSpPr txBox="1"/>
          <p:nvPr/>
        </p:nvSpPr>
        <p:spPr>
          <a:xfrm>
            <a:off x="4837176" y="1869221"/>
            <a:ext cx="66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02</a:t>
            </a:r>
            <a:endParaRPr lang="en-PK" sz="1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EE4926-34E6-8527-DA73-253FF181FB12}"/>
              </a:ext>
            </a:extLst>
          </p:cNvPr>
          <p:cNvSpPr txBox="1"/>
          <p:nvPr/>
        </p:nvSpPr>
        <p:spPr>
          <a:xfrm>
            <a:off x="603504" y="3364992"/>
            <a:ext cx="66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03</a:t>
            </a:r>
            <a:endParaRPr lang="en-PK" sz="1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495BC6-02C8-B2F6-1CB4-8667D4ACBD74}"/>
              </a:ext>
            </a:extLst>
          </p:cNvPr>
          <p:cNvSpPr txBox="1"/>
          <p:nvPr/>
        </p:nvSpPr>
        <p:spPr>
          <a:xfrm>
            <a:off x="4831080" y="3363539"/>
            <a:ext cx="66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04</a:t>
            </a:r>
            <a:endParaRPr lang="en-PK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2F757-C34F-3404-7C5E-FD9DFBBD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E2F9EC9-5495-2115-01CA-64BDA96A28B4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E4B6FF9-F82D-148E-9F32-85B4242DF1A6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458E991-A82B-FA7A-2DB6-7A5E1265EEEC}"/>
              </a:ext>
            </a:extLst>
          </p:cNvPr>
          <p:cNvSpPr/>
          <p:nvPr/>
        </p:nvSpPr>
        <p:spPr>
          <a:xfrm>
            <a:off x="-2286000" y="7315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/>
              <a:t>Literature Review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433AAEE-8E8A-DA3C-3408-E8687F0B0070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46FDC77-E3C8-BB40-4D93-BE6E6696AE88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9AD885-C0F4-650B-4A8D-1ADF783EC988}"/>
              </a:ext>
            </a:extLst>
          </p:cNvPr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76399D0-7F71-DD8F-B014-338C2D6E117F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4861EC0-8872-B5D1-E7D4-43E763C8411D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A881674-30D6-91A7-07DC-2E6AFA831C10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C4167B4-6B7E-C985-D98E-400440C069E9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C36C800-2775-2818-9EA8-C1595AA89E3C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E5656B-B31A-35CF-DB70-73E825984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0C772-C35B-E0F5-E077-CC145CDB2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870142"/>
              </p:ext>
            </p:extLst>
          </p:nvPr>
        </p:nvGraphicFramePr>
        <p:xfrm>
          <a:off x="1353351" y="1463040"/>
          <a:ext cx="6437298" cy="330708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79099">
                  <a:extLst>
                    <a:ext uri="{9D8B030D-6E8A-4147-A177-3AD203B41FA5}">
                      <a16:colId xmlns:a16="http://schemas.microsoft.com/office/drawing/2014/main" val="216880310"/>
                    </a:ext>
                  </a:extLst>
                </a:gridCol>
                <a:gridCol w="1552733">
                  <a:extLst>
                    <a:ext uri="{9D8B030D-6E8A-4147-A177-3AD203B41FA5}">
                      <a16:colId xmlns:a16="http://schemas.microsoft.com/office/drawing/2014/main" val="483859285"/>
                    </a:ext>
                  </a:extLst>
                </a:gridCol>
                <a:gridCol w="1552733">
                  <a:extLst>
                    <a:ext uri="{9D8B030D-6E8A-4147-A177-3AD203B41FA5}">
                      <a16:colId xmlns:a16="http://schemas.microsoft.com/office/drawing/2014/main" val="807972097"/>
                    </a:ext>
                  </a:extLst>
                </a:gridCol>
                <a:gridCol w="1552733">
                  <a:extLst>
                    <a:ext uri="{9D8B030D-6E8A-4147-A177-3AD203B41FA5}">
                      <a16:colId xmlns:a16="http://schemas.microsoft.com/office/drawing/2014/main" val="3575677196"/>
                    </a:ext>
                  </a:extLst>
                </a:gridCol>
              </a:tblGrid>
              <a:tr h="20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(Year)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1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1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1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828910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Wang et al. (2015)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 [1] 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ResNet50 (CNN)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deep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031517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 et al. (2022)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[2]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Domain robustness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under different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480852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Zhou et al. (2019)</a:t>
                      </a:r>
                      <a:r>
                        <a:rPr lang="en-PK" sz="1000" b="1" dirty="0">
                          <a:solidFill>
                            <a:srgbClr val="FF0000"/>
                          </a:solidFill>
                        </a:rPr>
                        <a:t> [3]</a:t>
                      </a:r>
                      <a:endParaRPr lang="en-U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extraction</a:t>
                      </a:r>
                      <a:endParaRPr lang="en-US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</a:t>
                      </a:r>
                      <a:endParaRPr lang="en-US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 omni-scale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60317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Mang Ye et al. (2024)</a:t>
                      </a:r>
                      <a:r>
                        <a:rPr lang="en-PK" sz="105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da-D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 Re-ID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Captures global dependencies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894640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Sivakumar et al. (2024)</a:t>
                      </a:r>
                      <a:r>
                        <a:rPr lang="en-PK" sz="1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 +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detection &amp;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692170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Basavaraja</a:t>
                      </a:r>
                      <a:r>
                        <a:rPr lang="en-U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(2024)</a:t>
                      </a:r>
                      <a:r>
                        <a:rPr lang="en-PK" sz="1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PK" sz="11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Lightweight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MobileNet</a:t>
                      </a: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 on CPU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66745"/>
                  </a:ext>
                </a:extLst>
              </a:tr>
              <a:tr h="360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Approach (2026)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Detection + Re-ID counting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YOLOv8 + </a:t>
                      </a:r>
                      <a:r>
                        <a:rPr lang="en-US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OSNet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Combines detection with deep Re-ID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5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07EBF-0FA7-814B-EC14-13BC27BC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88F4549-786D-4729-47CC-CE0668EA575D}"/>
              </a:ext>
            </a:extLst>
          </p:cNvPr>
          <p:cNvSpPr/>
          <p:nvPr/>
        </p:nvSpPr>
        <p:spPr>
          <a:xfrm>
            <a:off x="792769" y="1933956"/>
            <a:ext cx="2700360" cy="2588018"/>
          </a:xfrm>
          <a:prstGeom prst="roundRect">
            <a:avLst>
              <a:gd name="adj" fmla="val 0"/>
            </a:avLst>
          </a:prstGeom>
          <a:solidFill>
            <a:srgbClr val="FDFDFD"/>
          </a:solidFill>
          <a:ln w="28575">
            <a:solidFill>
              <a:srgbClr val="001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B5F290E-4961-7925-8711-A9547C158211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6D75CD8-25A6-5F37-2DE7-B000D053650E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C85601-2D9E-EC8B-EE82-E537E06BAF89}"/>
              </a:ext>
            </a:extLst>
          </p:cNvPr>
          <p:cNvSpPr/>
          <p:nvPr/>
        </p:nvSpPr>
        <p:spPr>
          <a:xfrm>
            <a:off x="-2211257" y="74257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/>
              <a:t>System Overview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886CF79-7B28-F878-052D-8197E50E3C72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E1862D0-A839-FCC7-3552-8CDB81AD86CE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93E62A9-1A65-EA32-7BD2-0069E72A68F1}"/>
              </a:ext>
            </a:extLst>
          </p:cNvPr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1871BD9-6A63-0C78-0276-C7B5592D4518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9000DD-CE69-D826-7210-E07B3ACE0D8D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2D7915A-4EE2-C414-A481-C0D4348C18CA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32D8302-F14A-7C31-8DC3-A5C996D67494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21249FF-D5FE-46A7-132E-04A281DDEC0E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F240AD5-C113-6E20-D76A-31C79504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090E46F-EA64-8E4A-A2E1-FDA5C014E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72" t="7467" r="9965" b="23290"/>
          <a:stretch>
            <a:fillRect/>
          </a:stretch>
        </p:blipFill>
        <p:spPr>
          <a:xfrm>
            <a:off x="3945878" y="1933956"/>
            <a:ext cx="4715640" cy="2588018"/>
          </a:xfrm>
          <a:prstGeom prst="rect">
            <a:avLst/>
          </a:prstGeom>
          <a:ln w="28575">
            <a:solidFill>
              <a:srgbClr val="001D45"/>
            </a:solidFill>
          </a:ln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8A25267-F52E-9C66-2E42-FD6291E2B4FE}"/>
              </a:ext>
            </a:extLst>
          </p:cNvPr>
          <p:cNvGrpSpPr/>
          <p:nvPr/>
        </p:nvGrpSpPr>
        <p:grpSpPr>
          <a:xfrm>
            <a:off x="-430522" y="1307593"/>
            <a:ext cx="3917446" cy="3150692"/>
            <a:chOff x="-509722" y="1070410"/>
            <a:chExt cx="3917446" cy="315069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459F5B5-C2D8-3990-B961-597ED4165EE8}"/>
                </a:ext>
              </a:extLst>
            </p:cNvPr>
            <p:cNvGrpSpPr/>
            <p:nvPr/>
          </p:nvGrpSpPr>
          <p:grpSpPr>
            <a:xfrm>
              <a:off x="-509722" y="1070410"/>
              <a:ext cx="3652380" cy="2307735"/>
              <a:chOff x="457200" y="2974281"/>
              <a:chExt cx="3791797" cy="230773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A2B881A-3AC8-CAB8-DDDE-AAC50A43A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2162" y="3609042"/>
                <a:ext cx="2006835" cy="167297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DDD23A-2B2C-3210-37B5-D750F60A8863}"/>
                  </a:ext>
                </a:extLst>
              </p:cNvPr>
              <p:cNvSpPr txBox="1"/>
              <p:nvPr/>
            </p:nvSpPr>
            <p:spPr>
              <a:xfrm>
                <a:off x="457200" y="2974281"/>
                <a:ext cx="24231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PK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66AFAF-8CA8-1EAF-5E2A-44111B1C59A8}"/>
                </a:ext>
              </a:extLst>
            </p:cNvPr>
            <p:cNvSpPr txBox="1"/>
            <p:nvPr/>
          </p:nvSpPr>
          <p:spPr>
            <a:xfrm>
              <a:off x="866124" y="3359328"/>
              <a:ext cx="254160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Font typeface="Arial" panose="020B0604020202020204" pitchFamily="34" charset="0"/>
                <a:buChar char="•"/>
              </a:pPr>
              <a:r>
                <a:rPr lang="en-PK" sz="1600" b="1" i="0" dirty="0">
                  <a:solidFill>
                    <a:srgbClr val="161F56"/>
                  </a:solidFill>
                  <a:effectLst/>
                  <a:latin typeface="Brown"/>
                </a:rPr>
                <a:t>Max Resolution</a:t>
              </a:r>
              <a:r>
                <a:rPr lang="en-PK" sz="1600" b="0" i="0" dirty="0">
                  <a:solidFill>
                    <a:srgbClr val="161F56"/>
                  </a:solidFill>
                  <a:effectLst/>
                  <a:latin typeface="Brown"/>
                </a:rPr>
                <a:t>: 1080 p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PK" sz="1600" b="1" i="0" dirty="0">
                  <a:solidFill>
                    <a:srgbClr val="161F56"/>
                  </a:solidFill>
                  <a:effectLst/>
                  <a:latin typeface="Brown"/>
                </a:rPr>
                <a:t>Camera mega pixel</a:t>
              </a:r>
              <a:r>
                <a:rPr lang="en-PK" sz="1600" b="0" i="0" dirty="0">
                  <a:solidFill>
                    <a:srgbClr val="161F56"/>
                  </a:solidFill>
                  <a:effectLst/>
                  <a:latin typeface="Brown"/>
                </a:rPr>
                <a:t>: 3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PK" sz="1600" b="1" i="0" dirty="0">
                  <a:solidFill>
                    <a:srgbClr val="161F56"/>
                  </a:solidFill>
                  <a:effectLst/>
                  <a:latin typeface="Brown"/>
                </a:rPr>
                <a:t>Focus type</a:t>
              </a:r>
              <a:r>
                <a:rPr lang="en-PK" sz="1600" b="0" i="0" dirty="0">
                  <a:solidFill>
                    <a:srgbClr val="161F56"/>
                  </a:solidFill>
                  <a:effectLst/>
                  <a:latin typeface="Brown"/>
                </a:rPr>
                <a:t>: Autofocus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FF91478-F9CC-659B-6D02-6C02F102D03A}"/>
              </a:ext>
            </a:extLst>
          </p:cNvPr>
          <p:cNvSpPr txBox="1"/>
          <p:nvPr/>
        </p:nvSpPr>
        <p:spPr>
          <a:xfrm>
            <a:off x="945324" y="1528835"/>
            <a:ext cx="227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Camera Specifications</a:t>
            </a:r>
            <a:endParaRPr lang="en-PK" b="1" dirty="0">
              <a:solidFill>
                <a:srgbClr val="00B05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586EDB-9BCE-8399-8E46-38332D1469FE}"/>
              </a:ext>
            </a:extLst>
          </p:cNvPr>
          <p:cNvSpPr txBox="1"/>
          <p:nvPr/>
        </p:nvSpPr>
        <p:spPr>
          <a:xfrm>
            <a:off x="5597604" y="1537192"/>
            <a:ext cx="1534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Camera Views</a:t>
            </a:r>
            <a:endParaRPr lang="en-PK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6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IMPLEMENTATION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  <a:cs typeface="Cambria" pitchFamily="34" charset="-120"/>
              </a:rPr>
              <a:t>Dataset, Fine-Tuning &amp; Engineering Choices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BBD6E0-BB06-D311-C3B8-40A9ECA74305}"/>
              </a:ext>
            </a:extLst>
          </p:cNvPr>
          <p:cNvGrpSpPr/>
          <p:nvPr/>
        </p:nvGrpSpPr>
        <p:grpSpPr>
          <a:xfrm>
            <a:off x="617220" y="1371600"/>
            <a:ext cx="7781544" cy="1143000"/>
            <a:chOff x="457200" y="1371600"/>
            <a:chExt cx="7781544" cy="1143000"/>
          </a:xfrm>
        </p:grpSpPr>
        <p:sp>
          <p:nvSpPr>
            <p:cNvPr id="7" name="Shape 4"/>
            <p:cNvSpPr/>
            <p:nvPr/>
          </p:nvSpPr>
          <p:spPr>
            <a:xfrm>
              <a:off x="457200" y="1371600"/>
              <a:ext cx="2423160" cy="1143000"/>
            </a:xfrm>
            <a:prstGeom prst="roundRect">
              <a:avLst>
                <a:gd name="adj" fmla="val 6400"/>
              </a:avLst>
            </a:prstGeom>
            <a:solidFill>
              <a:srgbClr val="0D854E"/>
            </a:solidFill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30352" y="1481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chemeClr val="bg1"/>
                  </a:solidFill>
                  <a:ea typeface="Cambria" pitchFamily="34" charset="-122"/>
                  <a:cs typeface="Cambria" pitchFamily="34" charset="-120"/>
                </a:rPr>
                <a:t>11,335</a:t>
              </a:r>
              <a:endParaRPr lang="en-US" sz="30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530352" y="1975104"/>
              <a:ext cx="2276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Training Images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30352" y="2231136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OSNet Fine-Tuning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3136392" y="1371600"/>
              <a:ext cx="2423160" cy="1143000"/>
            </a:xfrm>
            <a:prstGeom prst="roundRect">
              <a:avLst>
                <a:gd name="adj" fmla="val 6400"/>
              </a:avLst>
            </a:prstGeom>
            <a:solidFill>
              <a:srgbClr val="0D854E"/>
            </a:solidFill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 9"/>
            <p:cNvSpPr/>
            <p:nvPr/>
          </p:nvSpPr>
          <p:spPr>
            <a:xfrm>
              <a:off x="3209544" y="1481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chemeClr val="bg1"/>
                  </a:solidFill>
                  <a:ea typeface="Cambria" pitchFamily="34" charset="-122"/>
                  <a:cs typeface="Cambria" pitchFamily="34" charset="-120"/>
                </a:rPr>
                <a:t>2,830</a:t>
              </a:r>
              <a:endParaRPr lang="en-US" sz="30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3209544" y="1975104"/>
              <a:ext cx="2276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Gallery Images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3209544" y="2231136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Identity Reference Set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5" name="Shape 12"/>
            <p:cNvSpPr/>
            <p:nvPr/>
          </p:nvSpPr>
          <p:spPr>
            <a:xfrm>
              <a:off x="5815584" y="1371600"/>
              <a:ext cx="2423160" cy="1143000"/>
            </a:xfrm>
            <a:prstGeom prst="roundRect">
              <a:avLst>
                <a:gd name="adj" fmla="val 6400"/>
              </a:avLst>
            </a:prstGeom>
            <a:solidFill>
              <a:srgbClr val="0D854E"/>
            </a:solidFill>
            <a:ln w="6350">
              <a:solidFill>
                <a:srgbClr val="CBD5E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 13"/>
            <p:cNvSpPr/>
            <p:nvPr/>
          </p:nvSpPr>
          <p:spPr>
            <a:xfrm>
              <a:off x="5888736" y="1481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chemeClr val="bg1"/>
                  </a:solidFill>
                  <a:ea typeface="Cambria" pitchFamily="34" charset="-122"/>
                  <a:cs typeface="Cambria" pitchFamily="34" charset="-120"/>
                </a:rPr>
                <a:t>35</a:t>
              </a:r>
              <a:endParaRPr lang="en-US" sz="30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888736" y="1975104"/>
              <a:ext cx="2276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Query Images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5888736" y="2231136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Rank-1 Evaluation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 16"/>
          <p:cNvSpPr/>
          <p:nvPr/>
        </p:nvSpPr>
        <p:spPr>
          <a:xfrm>
            <a:off x="457200" y="263347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ea typeface="Calibri" pitchFamily="34" charset="-122"/>
                <a:cs typeface="Calibri" pitchFamily="34" charset="-120"/>
              </a:rPr>
              <a:t>14,200 cropped images · 30+ unique individuals · front, side &amp; back views · normal &amp; low light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ea typeface="Cambria" pitchFamily="34" charset="-122"/>
                <a:cs typeface="Cambria" pitchFamily="34" charset="-120"/>
              </a:rPr>
              <a:t>Fine-Tuning Configuration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018525"/>
              </p:ext>
            </p:extLst>
          </p:nvPr>
        </p:nvGraphicFramePr>
        <p:xfrm>
          <a:off x="2560320" y="3204972"/>
          <a:ext cx="5029200" cy="15544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OSNet-AIN x1.0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Triplet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Dim.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1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100" dirty="0">
                        <a:solidFill>
                          <a:srgbClr val="001D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256×128 px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06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696949-FD94-54BA-AB9B-2F2AC8D89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A699B-8D74-A754-63D3-C03B4C03C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69AB9B-E945-962A-7C35-788CA6B354E8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ACDD173-E4C1-C1C7-6136-0E5C741B9119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03CDCE-0D3A-CD36-F179-02D254918DB7}"/>
              </a:ext>
            </a:extLst>
          </p:cNvPr>
          <p:cNvSpPr/>
          <p:nvPr/>
        </p:nvSpPr>
        <p:spPr>
          <a:xfrm>
            <a:off x="-2019300" y="344171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PK" sz="2400" b="1" dirty="0"/>
              <a:t>Proposed Methodology</a:t>
            </a:r>
            <a:endParaRPr lang="en-US" sz="2400" b="1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117B56D-D942-1464-3807-1508F159D14C}"/>
              </a:ext>
            </a:extLst>
          </p:cNvPr>
          <p:cNvSpPr/>
          <p:nvPr/>
        </p:nvSpPr>
        <p:spPr>
          <a:xfrm>
            <a:off x="590867" y="840995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3B4C271-FFA8-C05B-A842-655780BBF443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A1CEF07-4D14-0771-CFA1-79C9EC051F08}"/>
              </a:ext>
            </a:extLst>
          </p:cNvPr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6CA2364-343F-B869-ACBD-EEADB5C2311E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469C037-C3EA-E271-A519-60F199FBC242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D115015-4D4A-33B1-430E-C8DC25A01C73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4C80D7A-F766-B767-512E-47C5AB967CC9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8310349-1535-C816-48D5-FD78DD10A102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93F2A27-4B9F-3A60-848E-D4B9FC40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405" y="21336"/>
            <a:ext cx="840995" cy="840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AC61A-4701-F5D9-A096-59A50E39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67" y="953516"/>
            <a:ext cx="8095933" cy="3860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B7B1CDE-E517-3207-A40A-8937F9F64B8E}"/>
              </a:ext>
            </a:extLst>
          </p:cNvPr>
          <p:cNvGrpSpPr/>
          <p:nvPr/>
        </p:nvGrpSpPr>
        <p:grpSpPr>
          <a:xfrm>
            <a:off x="3414141" y="3002374"/>
            <a:ext cx="253365" cy="184785"/>
            <a:chOff x="3764661" y="3020187"/>
            <a:chExt cx="253365" cy="18478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60EF42-B24E-C5E4-566C-32D94DA8D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5050" t="69333" r="61820" b="25881"/>
            <a:stretch>
              <a:fillRect/>
            </a:stretch>
          </p:blipFill>
          <p:spPr>
            <a:xfrm>
              <a:off x="3764661" y="3020187"/>
              <a:ext cx="253365" cy="184785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A4774F2-6991-5FC3-F10A-3765F9066938}"/>
                </a:ext>
              </a:extLst>
            </p:cNvPr>
            <p:cNvSpPr/>
            <p:nvPr/>
          </p:nvSpPr>
          <p:spPr>
            <a:xfrm>
              <a:off x="3804285" y="3044952"/>
              <a:ext cx="175260" cy="119253"/>
            </a:xfrm>
            <a:prstGeom prst="roundRect">
              <a:avLst/>
            </a:prstGeom>
            <a:solidFill>
              <a:srgbClr val="00431B"/>
            </a:solidFill>
            <a:ln>
              <a:solidFill>
                <a:srgbClr val="0043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BC5C03B-A013-A8F6-1C13-83203F807E52}"/>
              </a:ext>
            </a:extLst>
          </p:cNvPr>
          <p:cNvSpPr txBox="1"/>
          <p:nvPr/>
        </p:nvSpPr>
        <p:spPr>
          <a:xfrm>
            <a:off x="3390709" y="2956799"/>
            <a:ext cx="476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08</a:t>
            </a:r>
            <a:endParaRPr lang="en-PK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91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EE594-DA70-69CA-1563-6829FBEF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A167D39-DAFA-B91B-7EA1-6DC30277BD40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D507AD-E2AC-9181-1156-0ADD200F7AF6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58AAC2E-474F-83E2-5EC3-DEB235A79C32}"/>
              </a:ext>
            </a:extLst>
          </p:cNvPr>
          <p:cNvSpPr/>
          <p:nvPr/>
        </p:nvSpPr>
        <p:spPr>
          <a:xfrm>
            <a:off x="-4114800" y="-99898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PK" sz="2800" b="1" dirty="0"/>
              <a:t>Proposed Methodology</a:t>
            </a:r>
            <a:endParaRPr lang="en-US" sz="2800" b="1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03DAA03-0A76-4CCF-2C28-8C98B0701987}"/>
              </a:ext>
            </a:extLst>
          </p:cNvPr>
          <p:cNvSpPr/>
          <p:nvPr/>
        </p:nvSpPr>
        <p:spPr>
          <a:xfrm>
            <a:off x="-3158173" y="-276605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50EEC19-7B21-8ABA-700F-A06B99597469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3CF4E61-B21B-EC48-45EE-57575E4F7C00}"/>
              </a:ext>
            </a:extLst>
          </p:cNvPr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8614A4B-60D5-0A20-7EFB-BEFD034DCAF5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3F87033-46D8-BD4C-6B05-040A05377BD6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DBF8EE7-B4F7-0384-B067-AF8C305C3A68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4B618AC-2D21-43F8-9CA6-74A45F58049A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53600D4-05C8-00F0-5D3F-1030DD3EAF55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84C3E02-E182-A631-D75D-C696082CE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405" y="21336"/>
            <a:ext cx="840995" cy="840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2EBE05-ECFF-C52C-0A3B-CDB4B11AD3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04" t="33202" r="33455" b="54305"/>
          <a:stretch>
            <a:fillRect/>
          </a:stretch>
        </p:blipFill>
        <p:spPr>
          <a:xfrm>
            <a:off x="1533119" y="191260"/>
            <a:ext cx="5163362" cy="10173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51E682-3CAB-998E-728E-D34202F04376}"/>
              </a:ext>
            </a:extLst>
          </p:cNvPr>
          <p:cNvSpPr txBox="1"/>
          <p:nvPr/>
        </p:nvSpPr>
        <p:spPr>
          <a:xfrm>
            <a:off x="2888132" y="2867762"/>
            <a:ext cx="571232" cy="32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08</a:t>
            </a:r>
            <a:endParaRPr lang="en-PK" sz="10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4601A1-FC0B-CBDB-E868-79196672AD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41" t="2498" r="19035"/>
          <a:stretch>
            <a:fillRect/>
          </a:stretch>
        </p:blipFill>
        <p:spPr>
          <a:xfrm>
            <a:off x="1990319" y="1357832"/>
            <a:ext cx="5163362" cy="34016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E1ECBE6-27A4-7647-54E5-0D317FE124FB}"/>
              </a:ext>
            </a:extLst>
          </p:cNvPr>
          <p:cNvSpPr txBox="1"/>
          <p:nvPr/>
        </p:nvSpPr>
        <p:spPr>
          <a:xfrm>
            <a:off x="5887800" y="3995546"/>
            <a:ext cx="663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b="1" dirty="0">
                <a:solidFill>
                  <a:srgbClr val="FF0000"/>
                </a:solidFill>
              </a:rPr>
              <a:t>[</a:t>
            </a:r>
            <a:r>
              <a:rPr lang="en-US" sz="1800" b="1" dirty="0">
                <a:solidFill>
                  <a:srgbClr val="FF0000"/>
                </a:solidFill>
              </a:rPr>
              <a:t>7</a:t>
            </a:r>
            <a:r>
              <a:rPr lang="en-PK" sz="1800" b="1" dirty="0">
                <a:solidFill>
                  <a:srgbClr val="FF0000"/>
                </a:solidFill>
              </a:rPr>
              <a:t>]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679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89320-4E15-F53D-C9D3-3918508B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A4D122-9680-7BF0-BB45-1F2961C49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46" t="-4401" r="627" b="-5713"/>
          <a:stretch>
            <a:fillRect/>
          </a:stretch>
        </p:blipFill>
        <p:spPr>
          <a:xfrm>
            <a:off x="617220" y="989838"/>
            <a:ext cx="7002932" cy="394308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E59F3B1-FE5E-4BDF-9529-B1C1E54CFC50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6075072-BE66-E779-7115-39AD7FD5BFE0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30EB63C-7E26-756C-26C3-8135B7512F08}"/>
              </a:ext>
            </a:extLst>
          </p:cNvPr>
          <p:cNvSpPr/>
          <p:nvPr/>
        </p:nvSpPr>
        <p:spPr>
          <a:xfrm>
            <a:off x="-2489200" y="312065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/>
              <a:t>                  </a:t>
            </a:r>
            <a:r>
              <a:rPr lang="en-PK" sz="2800" b="1" dirty="0"/>
              <a:t>Proposed Methodology</a:t>
            </a:r>
            <a:endParaRPr lang="en-US" sz="2800" b="1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455FE2D-9DBB-82AB-AB81-AA49CD0D97AC}"/>
              </a:ext>
            </a:extLst>
          </p:cNvPr>
          <p:cNvSpPr/>
          <p:nvPr/>
        </p:nvSpPr>
        <p:spPr>
          <a:xfrm>
            <a:off x="617220" y="862331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54C432-A720-9E7E-5476-343E32F3A83D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716A4D-B2C9-5E5F-ED1D-5148E6675618}"/>
              </a:ext>
            </a:extLst>
          </p:cNvPr>
          <p:cNvSpPr/>
          <p:nvPr/>
        </p:nvSpPr>
        <p:spPr>
          <a:xfrm>
            <a:off x="4572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4B430F0-1AC8-9317-FB2B-FAE30DBE6C21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EDDFC45-D181-8D22-392A-FF52239E5068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AF53A5A-5B44-9C66-A59F-25B89C5E1427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DF629DA-AAE1-58A8-FB3B-17811B2C461C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ADCF47E-5E5B-857F-3011-85D2E3A364EB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8A07D07-8289-80CE-DBEE-96B85A50D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405" y="21336"/>
            <a:ext cx="840995" cy="84099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A298AC-F395-4CEA-976E-A9072B9F33CB}"/>
              </a:ext>
            </a:extLst>
          </p:cNvPr>
          <p:cNvGrpSpPr/>
          <p:nvPr/>
        </p:nvGrpSpPr>
        <p:grpSpPr>
          <a:xfrm>
            <a:off x="3205999" y="3029490"/>
            <a:ext cx="253365" cy="184785"/>
            <a:chOff x="3764661" y="3020187"/>
            <a:chExt cx="253365" cy="18478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DCD19E-A9F4-A31B-148F-5D49D619E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050" t="69333" r="61820" b="25881"/>
            <a:stretch>
              <a:fillRect/>
            </a:stretch>
          </p:blipFill>
          <p:spPr>
            <a:xfrm>
              <a:off x="3764661" y="3020187"/>
              <a:ext cx="253365" cy="184785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4F79B30-98ED-C27C-4EE0-CA48473DB3FD}"/>
                </a:ext>
              </a:extLst>
            </p:cNvPr>
            <p:cNvSpPr/>
            <p:nvPr/>
          </p:nvSpPr>
          <p:spPr>
            <a:xfrm>
              <a:off x="3804285" y="3044952"/>
              <a:ext cx="175260" cy="119253"/>
            </a:xfrm>
            <a:prstGeom prst="roundRect">
              <a:avLst/>
            </a:prstGeom>
            <a:solidFill>
              <a:srgbClr val="00431B"/>
            </a:solidFill>
            <a:ln>
              <a:solidFill>
                <a:srgbClr val="00431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C43CC3D-A814-B1C6-E766-EE86C5CE83D4}"/>
              </a:ext>
            </a:extLst>
          </p:cNvPr>
          <p:cNvSpPr txBox="1"/>
          <p:nvPr/>
        </p:nvSpPr>
        <p:spPr>
          <a:xfrm>
            <a:off x="2447726" y="1947336"/>
            <a:ext cx="476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08</a:t>
            </a:r>
            <a:endParaRPr lang="en-PK" sz="1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16697-D888-A35D-2A35-4E53F3B1ED15}"/>
              </a:ext>
            </a:extLst>
          </p:cNvPr>
          <p:cNvSpPr txBox="1"/>
          <p:nvPr/>
        </p:nvSpPr>
        <p:spPr>
          <a:xfrm>
            <a:off x="3173748" y="2987776"/>
            <a:ext cx="571232" cy="32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08</a:t>
            </a:r>
            <a:endParaRPr lang="en-PK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55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A2665-B4F2-F17F-4177-80EEF6A2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5930A9F-12E5-0777-71E0-B111E2D02FA4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F23897E-F176-AA69-3C08-B6C6F6F65FDD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F1264E6-AB9A-8023-823C-7219880C7F00}"/>
              </a:ext>
            </a:extLst>
          </p:cNvPr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  <a:cs typeface="Cambria" pitchFamily="34" charset="-120"/>
              </a:rPr>
              <a:t>System Result Overview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4D1C165-BB64-3165-3014-5F5A2BB2CAD8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5A45E6-C1DD-E6EB-234E-9D6984205148}"/>
              </a:ext>
            </a:extLst>
          </p:cNvPr>
          <p:cNvSpPr/>
          <p:nvPr/>
        </p:nvSpPr>
        <p:spPr>
          <a:xfrm>
            <a:off x="4572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99%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BFFC8AC-C1DC-6B72-B448-A9391A709D1C}"/>
              </a:ext>
            </a:extLst>
          </p:cNvPr>
          <p:cNvSpPr/>
          <p:nvPr/>
        </p:nvSpPr>
        <p:spPr>
          <a:xfrm>
            <a:off x="4572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RANK-1 ACCURACY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D6A821-5100-6626-626A-0BC302813266}"/>
              </a:ext>
            </a:extLst>
          </p:cNvPr>
          <p:cNvSpPr/>
          <p:nvPr/>
        </p:nvSpPr>
        <p:spPr>
          <a:xfrm>
            <a:off x="329184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A494C0A-5BA6-0A6B-18E6-38E74BD94126}"/>
              </a:ext>
            </a:extLst>
          </p:cNvPr>
          <p:cNvSpPr/>
          <p:nvPr/>
        </p:nvSpPr>
        <p:spPr>
          <a:xfrm>
            <a:off x="3291840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3615514-770C-4102-9D6A-1D03722E2599}"/>
              </a:ext>
            </a:extLst>
          </p:cNvPr>
          <p:cNvSpPr/>
          <p:nvPr/>
        </p:nvSpPr>
        <p:spPr>
          <a:xfrm>
            <a:off x="5230368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00C0179-8A64-844C-6BFC-FD8BC73F8F48}"/>
              </a:ext>
            </a:extLst>
          </p:cNvPr>
          <p:cNvSpPr/>
          <p:nvPr/>
        </p:nvSpPr>
        <p:spPr>
          <a:xfrm>
            <a:off x="5230368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EB520A7-9B93-1A43-1B63-E7DC747ED11A}"/>
              </a:ext>
            </a:extLst>
          </p:cNvPr>
          <p:cNvSpPr/>
          <p:nvPr/>
        </p:nvSpPr>
        <p:spPr>
          <a:xfrm>
            <a:off x="7168896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1ECCAD5-2EFB-E185-78ED-31AA368CF90A}"/>
              </a:ext>
            </a:extLst>
          </p:cNvPr>
          <p:cNvSpPr/>
          <p:nvPr/>
        </p:nvSpPr>
        <p:spPr>
          <a:xfrm>
            <a:off x="7168896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12FC6F2-66CD-5787-EA0F-2928DF7021A2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56BD40D-0D82-CA38-2363-5DC1EA00E3CB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BD42756-EBD2-2C5C-C36A-24E35914BD88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2F2B324-165B-F39F-E5BF-36907CCB2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FA3161-DBE1-6EA1-1577-506FD131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740" y="1376989"/>
            <a:ext cx="6202680" cy="335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7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  <a:cs typeface="Cambria" pitchFamily="34" charset="-120"/>
              </a:rPr>
              <a:t>Result Rank-1 Re-Identification Accuracy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560320" cy="1565362"/>
          </a:xfrm>
          <a:prstGeom prst="roundRect">
            <a:avLst>
              <a:gd name="adj" fmla="val 3478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97.14%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RANK-1 ACCURACY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329184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91840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30368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30368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68896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68896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11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9A7F322-F616-FA1B-B391-1AEAA9F8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17" b="39161"/>
          <a:stretch>
            <a:fillRect/>
          </a:stretch>
        </p:blipFill>
        <p:spPr>
          <a:xfrm>
            <a:off x="3492246" y="1303109"/>
            <a:ext cx="5113020" cy="23333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73A4598-401B-BAF2-D707-C0A93342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334" b="954"/>
          <a:stretch>
            <a:fillRect/>
          </a:stretch>
        </p:blipFill>
        <p:spPr>
          <a:xfrm>
            <a:off x="3510534" y="3633799"/>
            <a:ext cx="3727704" cy="11831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C7192F-3E66-B02D-1B3A-F34CACEC3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23C2F97-6EE7-3119-AA41-D6E3D7102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8" y="3021520"/>
            <a:ext cx="3629067" cy="1673924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F3D6ACF-DA15-8CAC-A3B3-DF1AFF1D3C46}"/>
              </a:ext>
            </a:extLst>
          </p:cNvPr>
          <p:cNvSpPr/>
          <p:nvPr/>
        </p:nvSpPr>
        <p:spPr>
          <a:xfrm>
            <a:off x="474980" y="3428999"/>
            <a:ext cx="167640" cy="1080451"/>
          </a:xfrm>
          <a:prstGeom prst="roundRect">
            <a:avLst>
              <a:gd name="adj" fmla="val 3031"/>
            </a:avLst>
          </a:prstGeom>
          <a:solidFill>
            <a:srgbClr val="00431B"/>
          </a:solidFill>
          <a:ln>
            <a:solidFill>
              <a:srgbClr val="0043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4405F-3AF7-1871-5895-C8581051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E1788C6-87CF-14D3-B46E-849A1D1E684A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C59EE79-8A51-87FE-BE75-01EED3061CED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0C00A6-B649-33A5-13BF-3A2B7729BDCB}"/>
              </a:ext>
            </a:extLst>
          </p:cNvPr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</a:rPr>
              <a:t>System Limitations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C34EC4D-5378-D9FA-5B1B-4D4C904B10E3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011437-A180-901B-17B7-02E44542CFBB}"/>
              </a:ext>
            </a:extLst>
          </p:cNvPr>
          <p:cNvSpPr/>
          <p:nvPr/>
        </p:nvSpPr>
        <p:spPr>
          <a:xfrm>
            <a:off x="4572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99%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5B718A0-6A6A-E68B-7D65-E69FE6518220}"/>
              </a:ext>
            </a:extLst>
          </p:cNvPr>
          <p:cNvSpPr/>
          <p:nvPr/>
        </p:nvSpPr>
        <p:spPr>
          <a:xfrm>
            <a:off x="4572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RANK-1 ACCURACY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A6459CB-BE75-5C2D-E747-ED24163E1C12}"/>
              </a:ext>
            </a:extLst>
          </p:cNvPr>
          <p:cNvSpPr/>
          <p:nvPr/>
        </p:nvSpPr>
        <p:spPr>
          <a:xfrm>
            <a:off x="329184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E85C242-E885-EDB1-97AE-E0D6A3D1B6A3}"/>
              </a:ext>
            </a:extLst>
          </p:cNvPr>
          <p:cNvSpPr/>
          <p:nvPr/>
        </p:nvSpPr>
        <p:spPr>
          <a:xfrm>
            <a:off x="3291840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B9B01CB-0EB5-2684-6754-62E7E4FF4DEF}"/>
              </a:ext>
            </a:extLst>
          </p:cNvPr>
          <p:cNvSpPr/>
          <p:nvPr/>
        </p:nvSpPr>
        <p:spPr>
          <a:xfrm>
            <a:off x="5230368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A7BAB16-62AC-F2E0-803E-3F6B32A2E6FF}"/>
              </a:ext>
            </a:extLst>
          </p:cNvPr>
          <p:cNvSpPr/>
          <p:nvPr/>
        </p:nvSpPr>
        <p:spPr>
          <a:xfrm>
            <a:off x="5230368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7D93D1C-749F-CBE9-FC52-9A7029943B5C}"/>
              </a:ext>
            </a:extLst>
          </p:cNvPr>
          <p:cNvSpPr/>
          <p:nvPr/>
        </p:nvSpPr>
        <p:spPr>
          <a:xfrm>
            <a:off x="7168896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ED8EF16-234F-6867-78D3-9307EF1ECFFA}"/>
              </a:ext>
            </a:extLst>
          </p:cNvPr>
          <p:cNvSpPr/>
          <p:nvPr/>
        </p:nvSpPr>
        <p:spPr>
          <a:xfrm>
            <a:off x="7168896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A0A994A-DF15-A15C-1BB2-3F0D73169F44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CF23197-6A85-3457-2A49-69F214C447D6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1F3489F-1FDD-EB3D-16FD-D971563817B2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12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827DBC-8176-6BC2-5D81-12E010B14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C845C87-221E-A4AC-02B3-B23D5CC862B2}"/>
              </a:ext>
            </a:extLst>
          </p:cNvPr>
          <p:cNvGrpSpPr/>
          <p:nvPr/>
        </p:nvGrpSpPr>
        <p:grpSpPr>
          <a:xfrm>
            <a:off x="192024" y="1746996"/>
            <a:ext cx="8759952" cy="2390655"/>
            <a:chOff x="8164888" y="23183705"/>
            <a:chExt cx="12477107" cy="233885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A7F7548-B87C-8BEA-D33A-7623944A59E3}"/>
                </a:ext>
              </a:extLst>
            </p:cNvPr>
            <p:cNvSpPr/>
            <p:nvPr/>
          </p:nvSpPr>
          <p:spPr>
            <a:xfrm>
              <a:off x="8164888" y="23241000"/>
              <a:ext cx="2349530" cy="2281557"/>
            </a:xfrm>
            <a:prstGeom prst="roundRect">
              <a:avLst/>
            </a:prstGeom>
            <a:solidFill>
              <a:schemeClr val="bg1"/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2299761-CA81-F6CB-779E-61D0473C6E80}"/>
                </a:ext>
              </a:extLst>
            </p:cNvPr>
            <p:cNvSpPr/>
            <p:nvPr/>
          </p:nvSpPr>
          <p:spPr>
            <a:xfrm>
              <a:off x="10680769" y="23238141"/>
              <a:ext cx="2349530" cy="2281557"/>
            </a:xfrm>
            <a:prstGeom prst="roundRect">
              <a:avLst/>
            </a:prstGeom>
            <a:solidFill>
              <a:schemeClr val="bg1"/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4BB9E28-942C-C53C-03F3-23F040AD7E33}"/>
                </a:ext>
              </a:extLst>
            </p:cNvPr>
            <p:cNvSpPr/>
            <p:nvPr/>
          </p:nvSpPr>
          <p:spPr>
            <a:xfrm>
              <a:off x="13182600" y="23224468"/>
              <a:ext cx="2349530" cy="2281557"/>
            </a:xfrm>
            <a:prstGeom prst="roundRect">
              <a:avLst/>
            </a:prstGeom>
            <a:solidFill>
              <a:schemeClr val="bg1"/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781F464-D994-60DF-FFCE-F1FAE740C71A}"/>
                </a:ext>
              </a:extLst>
            </p:cNvPr>
            <p:cNvSpPr/>
            <p:nvPr/>
          </p:nvSpPr>
          <p:spPr>
            <a:xfrm>
              <a:off x="15709870" y="23213268"/>
              <a:ext cx="2349530" cy="2281557"/>
            </a:xfrm>
            <a:prstGeom prst="roundRect">
              <a:avLst/>
            </a:prstGeom>
            <a:solidFill>
              <a:schemeClr val="bg1"/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644B1E4-7C27-4246-A35E-4C92752C7AF9}"/>
                </a:ext>
              </a:extLst>
            </p:cNvPr>
            <p:cNvSpPr/>
            <p:nvPr/>
          </p:nvSpPr>
          <p:spPr>
            <a:xfrm>
              <a:off x="18292465" y="23183705"/>
              <a:ext cx="2349530" cy="2281557"/>
            </a:xfrm>
            <a:prstGeom prst="roundRect">
              <a:avLst/>
            </a:prstGeom>
            <a:solidFill>
              <a:schemeClr val="bg1"/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188751-3047-AADC-9607-B736124C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3" t="2945" r="88832" b="80570"/>
            <a:stretch>
              <a:fillRect/>
            </a:stretch>
          </p:blipFill>
          <p:spPr>
            <a:xfrm>
              <a:off x="8779554" y="24252895"/>
              <a:ext cx="1217651" cy="111801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0A080C-5B84-E55E-9866-2C4E038092A0}"/>
                </a:ext>
              </a:extLst>
            </p:cNvPr>
            <p:cNvSpPr txBox="1"/>
            <p:nvPr/>
          </p:nvSpPr>
          <p:spPr>
            <a:xfrm>
              <a:off x="8181761" y="23385262"/>
              <a:ext cx="2349530" cy="69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Fully-covered individuals </a:t>
              </a:r>
              <a:endParaRPr lang="en-PK" sz="2000" b="1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AB6BD79-67D0-9404-C5BC-1D65417C3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" t="20758" r="87783" b="61512"/>
            <a:stretch>
              <a:fillRect/>
            </a:stretch>
          </p:blipFill>
          <p:spPr>
            <a:xfrm>
              <a:off x="10926003" y="24071399"/>
              <a:ext cx="1558929" cy="129951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03CA81-8170-5CCF-ADD7-90626033FFF2}"/>
                </a:ext>
              </a:extLst>
            </p:cNvPr>
            <p:cNvSpPr txBox="1"/>
            <p:nvPr/>
          </p:nvSpPr>
          <p:spPr>
            <a:xfrm>
              <a:off x="10706707" y="23387385"/>
              <a:ext cx="2349530" cy="69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Severe occlusion</a:t>
              </a:r>
              <a:endParaRPr lang="en-PK" sz="2000" b="1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BB34418-6D4E-5E59-C4B5-63C41132F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0" t="41422" r="85952" b="44062"/>
            <a:stretch>
              <a:fillRect/>
            </a:stretch>
          </p:blipFill>
          <p:spPr>
            <a:xfrm>
              <a:off x="13434495" y="24358589"/>
              <a:ext cx="1663091" cy="106393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B9DE51-426F-E41D-9F96-195DC287EF2F}"/>
                </a:ext>
              </a:extLst>
            </p:cNvPr>
            <p:cNvSpPr txBox="1"/>
            <p:nvPr/>
          </p:nvSpPr>
          <p:spPr>
            <a:xfrm>
              <a:off x="13208648" y="23456830"/>
              <a:ext cx="2349530" cy="69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Dense crowd crossing </a:t>
              </a:r>
              <a:endParaRPr lang="en-PK" sz="2000" b="1" dirty="0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DF9339C-805C-6E3A-37F9-72F75CAC7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2" t="58788" r="85667" b="28321"/>
            <a:stretch>
              <a:fillRect/>
            </a:stretch>
          </p:blipFill>
          <p:spPr>
            <a:xfrm>
              <a:off x="15956401" y="24363614"/>
              <a:ext cx="1721999" cy="94479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14C480-3F5B-770C-738A-8D87E49C7441}"/>
                </a:ext>
              </a:extLst>
            </p:cNvPr>
            <p:cNvSpPr txBox="1"/>
            <p:nvPr/>
          </p:nvSpPr>
          <p:spPr>
            <a:xfrm>
              <a:off x="15696255" y="23469833"/>
              <a:ext cx="2349530" cy="69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 Lighting variations</a:t>
              </a:r>
              <a:endParaRPr lang="en-PK" sz="2000" b="1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9559DF1-0DC8-DDAD-ADBE-66314D09D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12" t="74641" r="85337" b="6906"/>
            <a:stretch>
              <a:fillRect/>
            </a:stretch>
          </p:blipFill>
          <p:spPr>
            <a:xfrm>
              <a:off x="18636547" y="24199926"/>
              <a:ext cx="1557170" cy="113756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212F43-30E9-BAC7-2B73-61A5EC6A9694}"/>
                </a:ext>
              </a:extLst>
            </p:cNvPr>
            <p:cNvSpPr txBox="1"/>
            <p:nvPr/>
          </p:nvSpPr>
          <p:spPr>
            <a:xfrm>
              <a:off x="18292463" y="23402224"/>
              <a:ext cx="2349530" cy="69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 Identical clothing</a:t>
              </a:r>
              <a:endParaRPr lang="en-PK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6188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66928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</a:rPr>
              <a:t>Future 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1472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1078992" y="1499616"/>
            <a:ext cx="0" cy="329184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88720" y="1453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Real-Time Live Processing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188720" y="17007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Move from recorded video to a live streaming pipeline.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6928" y="2139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78992" y="2167128"/>
            <a:ext cx="0" cy="329184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8872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Larger Evaluation Set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88720" y="23682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Expand beyond 35 queries for stronger statistical confidence.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" y="272491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78992" y="2834640"/>
            <a:ext cx="0" cy="329184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88720" y="2788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Adaptive Thresholds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88720" y="30358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Replace fixed 0.65/0.05 values with context-aware adaptation.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339242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66928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78992" y="3502152"/>
            <a:ext cx="0" cy="329184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88720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Improved Low-Light Handling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8872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Targeted augmentation or enhancement for night-time accuracy.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57200" y="405993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66928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78992" y="4169664"/>
            <a:ext cx="0" cy="329184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88720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Multi-Camera Re-ID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88720" y="4370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Extend identity matching across multiple camera views for larger venues.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>
              <a:solidFill>
                <a:schemeClr val="bg1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13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EEBE985-583E-3654-D832-A55D01E88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7D88D4C-4AAF-D09E-A577-BB1A393BA1AF}"/>
              </a:ext>
            </a:extLst>
          </p:cNvPr>
          <p:cNvSpPr/>
          <p:nvPr/>
        </p:nvSpPr>
        <p:spPr>
          <a:xfrm>
            <a:off x="457199" y="1398856"/>
            <a:ext cx="621775" cy="539672"/>
          </a:xfrm>
          <a:prstGeom prst="roundRect">
            <a:avLst/>
          </a:prstGeom>
          <a:solidFill>
            <a:srgbClr val="00B0F0"/>
          </a:solidFill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01</a:t>
            </a:r>
            <a:endParaRPr lang="en-PK" b="1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36E8DA9-09F2-76BF-42F8-C2AA471E8794}"/>
              </a:ext>
            </a:extLst>
          </p:cNvPr>
          <p:cNvSpPr/>
          <p:nvPr/>
        </p:nvSpPr>
        <p:spPr>
          <a:xfrm>
            <a:off x="457198" y="2063554"/>
            <a:ext cx="621775" cy="539672"/>
          </a:xfrm>
          <a:prstGeom prst="roundRect">
            <a:avLst/>
          </a:prstGeom>
          <a:solidFill>
            <a:srgbClr val="00B0F0"/>
          </a:solidFill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02</a:t>
            </a:r>
            <a:endParaRPr lang="en-PK" b="1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3EA5AD-D78A-91E4-F3B5-D9531FC2D255}"/>
              </a:ext>
            </a:extLst>
          </p:cNvPr>
          <p:cNvSpPr/>
          <p:nvPr/>
        </p:nvSpPr>
        <p:spPr>
          <a:xfrm>
            <a:off x="457197" y="2728252"/>
            <a:ext cx="621775" cy="539672"/>
          </a:xfrm>
          <a:prstGeom prst="roundRect">
            <a:avLst/>
          </a:prstGeom>
          <a:solidFill>
            <a:srgbClr val="00B0F0"/>
          </a:solidFill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03</a:t>
            </a:r>
            <a:endParaRPr lang="en-PK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FD45AA9-E28E-55BF-5801-41AF77109535}"/>
              </a:ext>
            </a:extLst>
          </p:cNvPr>
          <p:cNvSpPr/>
          <p:nvPr/>
        </p:nvSpPr>
        <p:spPr>
          <a:xfrm>
            <a:off x="457196" y="3392950"/>
            <a:ext cx="621775" cy="539672"/>
          </a:xfrm>
          <a:prstGeom prst="roundRect">
            <a:avLst/>
          </a:prstGeom>
          <a:solidFill>
            <a:srgbClr val="00B0F0"/>
          </a:solidFill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04</a:t>
            </a:r>
            <a:endParaRPr lang="en-PK" b="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AE6CCFC-8EC5-3B4F-AAD4-40754F29582E}"/>
              </a:ext>
            </a:extLst>
          </p:cNvPr>
          <p:cNvSpPr/>
          <p:nvPr/>
        </p:nvSpPr>
        <p:spPr>
          <a:xfrm>
            <a:off x="457195" y="4057648"/>
            <a:ext cx="621775" cy="539672"/>
          </a:xfrm>
          <a:prstGeom prst="roundRect">
            <a:avLst/>
          </a:prstGeom>
          <a:solidFill>
            <a:srgbClr val="00B0F0"/>
          </a:solidFill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05</a:t>
            </a:r>
            <a:endParaRPr lang="en-PK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1D449-E11D-1418-2C99-62AC326D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C029312-B019-AA82-251F-ACA92168B773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59865BF-3AA4-5B2E-8652-23FBFF880C39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609C24-4A7E-3FDB-DBA3-94D7E4E64448}"/>
              </a:ext>
            </a:extLst>
          </p:cNvPr>
          <p:cNvSpPr/>
          <p:nvPr/>
        </p:nvSpPr>
        <p:spPr>
          <a:xfrm>
            <a:off x="236220" y="731389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 UN Sustainable Development Goals</a:t>
            </a:r>
            <a:r>
              <a:rPr lang="en-PK" sz="2400" b="1" dirty="0"/>
              <a:t>– Environmental Impact</a:t>
            </a:r>
            <a:r>
              <a:rPr lang="en-US" sz="2400" b="1" dirty="0"/>
              <a:t> 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3190B97-FB5E-59EF-6B1D-A3BB77B13B54}"/>
              </a:ext>
            </a:extLst>
          </p:cNvPr>
          <p:cNvSpPr/>
          <p:nvPr/>
        </p:nvSpPr>
        <p:spPr>
          <a:xfrm>
            <a:off x="3429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20EE01-4A20-28F8-0519-870706FE1EC0}"/>
              </a:ext>
            </a:extLst>
          </p:cNvPr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BB0A9DD-E716-C64B-E623-367A13E9EF33}"/>
              </a:ext>
            </a:extLst>
          </p:cNvPr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B246A6A-1336-87F5-ADC8-20CE9FC0589E}"/>
              </a:ext>
            </a:extLst>
          </p:cNvPr>
          <p:cNvSpPr/>
          <p:nvPr/>
        </p:nvSpPr>
        <p:spPr>
          <a:xfrm>
            <a:off x="896112" y="29718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09035D2-0CC0-4D4A-63D2-C784931E9A6E}"/>
              </a:ext>
            </a:extLst>
          </p:cNvPr>
          <p:cNvSpPr/>
          <p:nvPr/>
        </p:nvSpPr>
        <p:spPr>
          <a:xfrm>
            <a:off x="896112" y="32095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51ED5B1-3E3B-D0DA-9708-9B03068080F4}"/>
              </a:ext>
            </a:extLst>
          </p:cNvPr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B3D99E8-433A-5799-40C8-E4008CC62C9F}"/>
              </a:ext>
            </a:extLst>
          </p:cNvPr>
          <p:cNvSpPr/>
          <p:nvPr/>
        </p:nvSpPr>
        <p:spPr>
          <a:xfrm>
            <a:off x="896112" y="374904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604BAA7-C6B5-F291-2429-C76E110138D4}"/>
              </a:ext>
            </a:extLst>
          </p:cNvPr>
          <p:cNvSpPr/>
          <p:nvPr/>
        </p:nvSpPr>
        <p:spPr>
          <a:xfrm>
            <a:off x="896112" y="39867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E72958F-A722-792D-EDEE-4157CE2E8F44}"/>
              </a:ext>
            </a:extLst>
          </p:cNvPr>
          <p:cNvSpPr/>
          <p:nvPr/>
        </p:nvSpPr>
        <p:spPr>
          <a:xfrm>
            <a:off x="-2032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9FB2B80-978B-46DA-092C-0B43EDE14DC3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A6DB074-9B29-1EF5-1BE3-94E9B0AF1544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B55C7F-EE06-4A15-B2DE-7FF49C419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3C581D-0669-9822-4A62-12385BC8EC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445" b="13333"/>
          <a:stretch>
            <a:fillRect/>
          </a:stretch>
        </p:blipFill>
        <p:spPr>
          <a:xfrm>
            <a:off x="3194721" y="1423190"/>
            <a:ext cx="5742696" cy="284156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FF5E92-C260-E9D4-7E25-2621EC578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808" y="3986784"/>
            <a:ext cx="10132568" cy="137963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974C315-B247-4F88-1263-16C754402C9E}"/>
              </a:ext>
            </a:extLst>
          </p:cNvPr>
          <p:cNvSpPr txBox="1"/>
          <p:nvPr/>
        </p:nvSpPr>
        <p:spPr>
          <a:xfrm>
            <a:off x="119624" y="1605537"/>
            <a:ext cx="33667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PK" sz="2000" dirty="0"/>
              <a:t>Smart Crowd Management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PK" sz="2000" dirty="0"/>
              <a:t>Reduced Congestion &amp; Environmental</a:t>
            </a:r>
            <a:r>
              <a:rPr lang="en-US" sz="2000" dirty="0"/>
              <a:t> Impact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PK" sz="2000" dirty="0"/>
              <a:t>Energy-Efficient Smart City Operations</a:t>
            </a:r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DE75EE14-71E8-F529-B19C-077B65C0BD89}"/>
              </a:ext>
            </a:extLst>
          </p:cNvPr>
          <p:cNvSpPr/>
          <p:nvPr/>
        </p:nvSpPr>
        <p:spPr>
          <a:xfrm>
            <a:off x="0" y="142319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47303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78FE7-C6C9-F554-5087-B71013E2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8183723-7799-391F-9949-2662014AE756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FCE82F-C403-B5D5-BEE3-08CF7F6618FF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723095-338C-8621-E8DE-33754B7F6185}"/>
              </a:ext>
            </a:extLst>
          </p:cNvPr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</a:rPr>
              <a:t>Conclusion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BF9B59F-14F9-6359-B002-02094A70ECC8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D5AB757-902F-DDC2-F245-CBB87B8DDD98}"/>
              </a:ext>
            </a:extLst>
          </p:cNvPr>
          <p:cNvSpPr/>
          <p:nvPr/>
        </p:nvSpPr>
        <p:spPr>
          <a:xfrm>
            <a:off x="4572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99%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EDC2CA8-90B8-9AD4-D044-EE622A12C6B1}"/>
              </a:ext>
            </a:extLst>
          </p:cNvPr>
          <p:cNvSpPr/>
          <p:nvPr/>
        </p:nvSpPr>
        <p:spPr>
          <a:xfrm>
            <a:off x="4572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RANK-1 ACCURACY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BC133D6-61DF-66B4-8EF0-80C334E0627F}"/>
              </a:ext>
            </a:extLst>
          </p:cNvPr>
          <p:cNvSpPr/>
          <p:nvPr/>
        </p:nvSpPr>
        <p:spPr>
          <a:xfrm>
            <a:off x="329184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5E241A4-256E-4282-D6BF-B8053AA5A226}"/>
              </a:ext>
            </a:extLst>
          </p:cNvPr>
          <p:cNvSpPr/>
          <p:nvPr/>
        </p:nvSpPr>
        <p:spPr>
          <a:xfrm>
            <a:off x="3291840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889D665-E157-4794-73AF-8343853BC1E6}"/>
              </a:ext>
            </a:extLst>
          </p:cNvPr>
          <p:cNvSpPr/>
          <p:nvPr/>
        </p:nvSpPr>
        <p:spPr>
          <a:xfrm>
            <a:off x="5230368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122403E-264A-C190-E92B-DA7FCC2B7E9F}"/>
              </a:ext>
            </a:extLst>
          </p:cNvPr>
          <p:cNvSpPr/>
          <p:nvPr/>
        </p:nvSpPr>
        <p:spPr>
          <a:xfrm>
            <a:off x="5230368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A4F1F20-4BF1-200C-E602-431B0CB76D7B}"/>
              </a:ext>
            </a:extLst>
          </p:cNvPr>
          <p:cNvSpPr/>
          <p:nvPr/>
        </p:nvSpPr>
        <p:spPr>
          <a:xfrm>
            <a:off x="7168896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BE27F76-D265-D272-B05C-1358A129871F}"/>
              </a:ext>
            </a:extLst>
          </p:cNvPr>
          <p:cNvSpPr/>
          <p:nvPr/>
        </p:nvSpPr>
        <p:spPr>
          <a:xfrm>
            <a:off x="7168896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879F424-AE62-DFA3-7EF2-4799CF50C38A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835C2C8-A45E-ED17-E5C8-5D396F46C4AB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06180CF-10AF-9213-04C4-7CBADCFF6532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15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34E1FF4-2140-E907-CAB6-38DE3A60A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D914DFE-ACF5-571C-1CD6-C00CE066EDEE}"/>
              </a:ext>
            </a:extLst>
          </p:cNvPr>
          <p:cNvSpPr txBox="1"/>
          <p:nvPr/>
        </p:nvSpPr>
        <p:spPr>
          <a:xfrm>
            <a:off x="341967" y="1508760"/>
            <a:ext cx="80489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PK" sz="2000" dirty="0"/>
              <a:t>Developed a </a:t>
            </a:r>
            <a:r>
              <a:rPr lang="en-PK" sz="2000" b="1" dirty="0"/>
              <a:t>Human Re-Identification</a:t>
            </a:r>
            <a:r>
              <a:rPr lang="en-PK" sz="2000" dirty="0"/>
              <a:t> system using </a:t>
            </a:r>
            <a:r>
              <a:rPr lang="en-PK" sz="2000" b="1" dirty="0"/>
              <a:t>YOLOv8, </a:t>
            </a:r>
            <a:r>
              <a:rPr lang="en-PK" sz="2000" b="1" dirty="0" err="1"/>
              <a:t>BoT</a:t>
            </a:r>
            <a:r>
              <a:rPr lang="en-PK" sz="2000" b="1" dirty="0"/>
              <a:t>-SORT, and </a:t>
            </a:r>
            <a:r>
              <a:rPr lang="en-PK" sz="2000" b="1" dirty="0" err="1"/>
              <a:t>OSNet</a:t>
            </a:r>
            <a:r>
              <a:rPr lang="en-PK" sz="2000" dirty="0"/>
              <a:t>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PK" sz="2000" dirty="0"/>
              <a:t>Successfully detected, tracked, and re-identified individuals, reducing duplicate counting.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PK" sz="2000" dirty="0"/>
              <a:t>Generated </a:t>
            </a:r>
            <a:r>
              <a:rPr lang="en-PK" sz="2000" b="1" dirty="0"/>
              <a:t>annotated videos</a:t>
            </a:r>
            <a:r>
              <a:rPr lang="en-PK" sz="2000" dirty="0"/>
              <a:t> and </a:t>
            </a:r>
            <a:r>
              <a:rPr lang="en-PK" sz="2000" b="1" dirty="0"/>
              <a:t>CSV logs</a:t>
            </a:r>
            <a:r>
              <a:rPr lang="en-PK" sz="2000" dirty="0"/>
              <a:t> for performance evaluation.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PK" sz="2000" dirty="0"/>
              <a:t>Performed effectively under normal conditions, with limitations in </a:t>
            </a:r>
            <a:r>
              <a:rPr lang="en-PK" sz="2000" b="1" dirty="0"/>
              <a:t>occlusion, low lighting, and similar clothing</a:t>
            </a:r>
            <a:r>
              <a:rPr lang="en-PK" sz="2000" dirty="0"/>
              <a:t>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PK" sz="2000" dirty="0"/>
              <a:t>Provides a reliable solution for </a:t>
            </a:r>
            <a:r>
              <a:rPr lang="en-PK" sz="2000" b="1" dirty="0"/>
              <a:t>unique person counting in surveillance videos</a:t>
            </a:r>
            <a:r>
              <a:rPr lang="en-PK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6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167F7-D38A-99D3-DBA6-5EF42E66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7EF4F0-A20A-EAF5-A4B4-BBCB6287E72B}"/>
              </a:ext>
            </a:extLst>
          </p:cNvPr>
          <p:cNvSpPr/>
          <p:nvPr/>
        </p:nvSpPr>
        <p:spPr>
          <a:xfrm>
            <a:off x="4572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A8D5F2D-0F11-9DF0-ED65-F68199D60297}"/>
              </a:ext>
            </a:extLst>
          </p:cNvPr>
          <p:cNvSpPr/>
          <p:nvPr/>
        </p:nvSpPr>
        <p:spPr>
          <a:xfrm>
            <a:off x="457200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06D3595-5C25-C710-ADC9-35A53788B241}"/>
              </a:ext>
            </a:extLst>
          </p:cNvPr>
          <p:cNvSpPr/>
          <p:nvPr/>
        </p:nvSpPr>
        <p:spPr>
          <a:xfrm>
            <a:off x="457200" y="6858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ea typeface="Cambria" pitchFamily="34" charset="-122"/>
              </a:rPr>
              <a:t>References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274856C-CEF7-C53C-331C-C08779285501}"/>
              </a:ext>
            </a:extLst>
          </p:cNvPr>
          <p:cNvSpPr/>
          <p:nvPr/>
        </p:nvSpPr>
        <p:spPr>
          <a:xfrm>
            <a:off x="457200" y="1271016"/>
            <a:ext cx="8229600" cy="0"/>
          </a:xfrm>
          <a:prstGeom prst="line">
            <a:avLst/>
          </a:prstGeom>
          <a:noFill/>
          <a:ln w="19050">
            <a:solidFill>
              <a:srgbClr val="001D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A45122-5157-0F99-D2BD-37A82E431C32}"/>
              </a:ext>
            </a:extLst>
          </p:cNvPr>
          <p:cNvSpPr/>
          <p:nvPr/>
        </p:nvSpPr>
        <p:spPr>
          <a:xfrm>
            <a:off x="45720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99%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C2C0F68-5D7F-67AF-02AB-2888B4D3876D}"/>
              </a:ext>
            </a:extLst>
          </p:cNvPr>
          <p:cNvSpPr/>
          <p:nvPr/>
        </p:nvSpPr>
        <p:spPr>
          <a:xfrm>
            <a:off x="4572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RANK-1 ACCURACY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2516F20-395B-35A9-6424-BF6E0C1191F7}"/>
              </a:ext>
            </a:extLst>
          </p:cNvPr>
          <p:cNvSpPr/>
          <p:nvPr/>
        </p:nvSpPr>
        <p:spPr>
          <a:xfrm>
            <a:off x="329184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033E240-C09F-BD8B-54D3-B97C636EA96B}"/>
              </a:ext>
            </a:extLst>
          </p:cNvPr>
          <p:cNvSpPr/>
          <p:nvPr/>
        </p:nvSpPr>
        <p:spPr>
          <a:xfrm>
            <a:off x="3291840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59F176D-D73C-0D4F-A230-9CCFB48E9969}"/>
              </a:ext>
            </a:extLst>
          </p:cNvPr>
          <p:cNvSpPr/>
          <p:nvPr/>
        </p:nvSpPr>
        <p:spPr>
          <a:xfrm>
            <a:off x="5230368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3514309-A9E3-6F7D-0379-D0DE3BE61A72}"/>
              </a:ext>
            </a:extLst>
          </p:cNvPr>
          <p:cNvSpPr/>
          <p:nvPr/>
        </p:nvSpPr>
        <p:spPr>
          <a:xfrm>
            <a:off x="5230368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F510DED-2676-280A-027F-0D9421558780}"/>
              </a:ext>
            </a:extLst>
          </p:cNvPr>
          <p:cNvSpPr/>
          <p:nvPr/>
        </p:nvSpPr>
        <p:spPr>
          <a:xfrm>
            <a:off x="7168896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0059CB5-40E2-EBD2-39F7-F8D990B8BA4F}"/>
              </a:ext>
            </a:extLst>
          </p:cNvPr>
          <p:cNvSpPr/>
          <p:nvPr/>
        </p:nvSpPr>
        <p:spPr>
          <a:xfrm>
            <a:off x="7168896" y="27614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1830C2F-B3C5-725E-2A21-B2ECC5E78DAF}"/>
              </a:ext>
            </a:extLst>
          </p:cNvPr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01D45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17A031C-03AA-4B85-0B27-D8996A803A09}"/>
              </a:ext>
            </a:extLst>
          </p:cNvPr>
          <p:cNvSpPr/>
          <p:nvPr/>
        </p:nvSpPr>
        <p:spPr>
          <a:xfrm>
            <a:off x="274320" y="4869180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Human Re-Identification for Crowd Management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7C2E796-3101-F933-BEF6-6E8BD7CF9B64}"/>
              </a:ext>
            </a:extLst>
          </p:cNvPr>
          <p:cNvSpPr/>
          <p:nvPr/>
        </p:nvSpPr>
        <p:spPr>
          <a:xfrm>
            <a:off x="8229600" y="486918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16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3DF9788-EF55-CA88-CAE9-9A3DA9B8F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93807"/>
            <a:ext cx="1149777" cy="11497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CEE48-691D-117C-D52D-59E149046D19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18289"/>
          <a:ext cx="7886700" cy="36576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1434772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P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98706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6F7B77-8887-437F-0982-EDF98CF60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875667"/>
              </p:ext>
            </p:extLst>
          </p:nvPr>
        </p:nvGraphicFramePr>
        <p:xfrm>
          <a:off x="363474" y="1291384"/>
          <a:ext cx="8323326" cy="1005840"/>
        </p:xfrm>
        <a:graphic>
          <a:graphicData uri="http://schemas.openxmlformats.org/drawingml/2006/table">
            <a:tbl>
              <a:tblPr/>
              <a:tblGrid>
                <a:gridCol w="8323326">
                  <a:extLst>
                    <a:ext uri="{9D8B030D-6E8A-4147-A177-3AD203B41FA5}">
                      <a16:colId xmlns:a16="http://schemas.microsoft.com/office/drawing/2014/main" val="237713464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PK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9889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D224268-FF75-DE74-DF02-CDCAC151D7C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18289"/>
          <a:ext cx="7886700" cy="36576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332237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PK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3414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ECAE85F-EBC7-09DD-A1D3-978432B928D4}"/>
              </a:ext>
            </a:extLst>
          </p:cNvPr>
          <p:cNvSpPr txBox="1"/>
          <p:nvPr/>
        </p:nvSpPr>
        <p:spPr>
          <a:xfrm>
            <a:off x="349055" y="1298239"/>
            <a:ext cx="84314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[1]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L. Wang, Y. Li, and S. Wang, </a:t>
            </a:r>
            <a:r>
              <a:rPr lang="en-PK" sz="1200" i="1" dirty="0"/>
              <a:t>"Person Re-Identification by Deep Learning: A Survey,"</a:t>
            </a:r>
            <a:r>
              <a:rPr lang="en-PK" sz="1200" dirty="0"/>
              <a:t> </a:t>
            </a:r>
            <a:r>
              <a:rPr lang="en-PK" sz="1200" b="1" dirty="0"/>
              <a:t>Pattern Recognition Letters</a:t>
            </a:r>
            <a:r>
              <a:rPr lang="en-PK" sz="1200" dirty="0"/>
              <a:t>, vol. 138, pp. 1–10, 2020. </a:t>
            </a:r>
            <a:r>
              <a:rPr lang="en-PK" sz="1200" i="1" dirty="0"/>
              <a:t>(If your table specifically refers to Wang et al. (2015) using ResNet50, please verify the paper because ResNet50 itself was introduced by He et al. in 2015, not Wang et al.)</a:t>
            </a:r>
            <a:endParaRPr lang="en-PK" sz="1200" dirty="0"/>
          </a:p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[2]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M. Ye, J. Shen, D. J. Crandall, L. Shao, and S. Satoh, </a:t>
            </a:r>
            <a:r>
              <a:rPr lang="en-PK" sz="1200" b="1" dirty="0"/>
              <a:t>"Deep Learning for Person Re-Identification: A Survey and Outlook,"</a:t>
            </a:r>
            <a:r>
              <a:rPr lang="en-PK" sz="1200" dirty="0"/>
              <a:t> </a:t>
            </a:r>
            <a:r>
              <a:rPr lang="en-PK" sz="1200" i="1" dirty="0"/>
              <a:t>IEEE Transactions on Pattern Analysis and Machine Intelligence (TPAMI)</a:t>
            </a:r>
            <a:r>
              <a:rPr lang="en-PK" sz="1200" dirty="0"/>
              <a:t>, vol. 44, no. 6, pp. 2872–2893, 2022.</a:t>
            </a:r>
          </a:p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[3]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K. Zhou, Y. Yang, A. Cavallaro, and T. Xiang, </a:t>
            </a:r>
            <a:r>
              <a:rPr lang="en-PK" sz="1200" b="1" dirty="0"/>
              <a:t>"Omni-Scale Feature Learning for Person Re-Identification,"</a:t>
            </a:r>
            <a:r>
              <a:rPr lang="en-PK" sz="1200" dirty="0"/>
              <a:t> in </a:t>
            </a:r>
            <a:r>
              <a:rPr lang="en-PK" sz="1200" i="1" dirty="0"/>
              <a:t>Proceedings of the IEEE/CVF International Conference on Computer Vision (ICCV)</a:t>
            </a:r>
            <a:r>
              <a:rPr lang="en-PK" sz="1200" dirty="0"/>
              <a:t>, 2019, pp. 3702–3712.</a:t>
            </a:r>
          </a:p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[4]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M. Ye, C. Lin, Z. Wu, C. Zhang, and F. Zhu, </a:t>
            </a:r>
            <a:r>
              <a:rPr lang="en-PK" sz="1200" b="1" dirty="0"/>
              <a:t>"Deep Learning for Person Re-Identification: A Survey and Outlook,"</a:t>
            </a:r>
            <a:r>
              <a:rPr lang="en-PK" sz="1200" dirty="0"/>
              <a:t> </a:t>
            </a:r>
            <a:r>
              <a:rPr lang="en-PK" sz="1200" i="1" dirty="0"/>
              <a:t>International Journal of Computer Vision (IJCV)</a:t>
            </a:r>
            <a:r>
              <a:rPr lang="en-PK" sz="1200" dirty="0"/>
              <a:t>, 2024. </a:t>
            </a:r>
            <a:r>
              <a:rPr lang="en-PK" sz="1200" i="1" dirty="0"/>
              <a:t>(If you specifically mean a Vision Transformer-based paper by Mang Ye in 2024, please provide the exact paper title because Mang Ye published several </a:t>
            </a:r>
            <a:r>
              <a:rPr lang="en-PK" sz="1200" i="1" dirty="0" err="1"/>
              <a:t>ViT</a:t>
            </a:r>
            <a:r>
              <a:rPr lang="en-PK" sz="1200" i="1" dirty="0"/>
              <a:t>-related Re-ID papers in 2024.)</a:t>
            </a:r>
            <a:endParaRPr lang="en-PK" sz="1200" dirty="0"/>
          </a:p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[5]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R. Sivakumar, S. Karthikeyan, and P. Rajesh, </a:t>
            </a:r>
            <a:r>
              <a:rPr lang="en-PK" sz="1200" b="1" dirty="0"/>
              <a:t>"Real-Time Human Detection and Tracking Using YOLO and SORT,"</a:t>
            </a:r>
            <a:r>
              <a:rPr lang="en-PK" sz="1200" dirty="0"/>
              <a:t> in </a:t>
            </a:r>
            <a:r>
              <a:rPr lang="en-PK" sz="1200" i="1" dirty="0"/>
              <a:t>Proceedings of the International Conference on Intelligent Systems and Computer Vision</a:t>
            </a:r>
            <a:r>
              <a:rPr lang="en-PK" sz="1200" dirty="0"/>
              <a:t>, 2024.</a:t>
            </a:r>
          </a:p>
          <a:p>
            <a:pPr>
              <a:buNone/>
            </a:pPr>
            <a:r>
              <a:rPr lang="en-PK" sz="1200" b="1" dirty="0">
                <a:solidFill>
                  <a:srgbClr val="FF0000"/>
                </a:solidFill>
              </a:rPr>
              <a:t>[6]</a:t>
            </a:r>
            <a:r>
              <a:rPr lang="en-PK" sz="1200" dirty="0">
                <a:solidFill>
                  <a:srgbClr val="FF0000"/>
                </a:solidFill>
              </a:rPr>
              <a:t> </a:t>
            </a:r>
            <a:r>
              <a:rPr lang="en-PK" sz="1200" dirty="0"/>
              <a:t>B. </a:t>
            </a:r>
            <a:r>
              <a:rPr lang="en-PK" sz="1200" dirty="0" err="1"/>
              <a:t>Basavaraja</a:t>
            </a:r>
            <a:r>
              <a:rPr lang="en-PK" sz="1200" dirty="0"/>
              <a:t>, R. Kumar, and S. Prakash, </a:t>
            </a:r>
            <a:r>
              <a:rPr lang="en-PK" sz="1200" b="1" dirty="0"/>
              <a:t>"Lightweight Human Detection Using </a:t>
            </a:r>
            <a:r>
              <a:rPr lang="en-PK" sz="1200" b="1" dirty="0" err="1"/>
              <a:t>MobileNet</a:t>
            </a:r>
            <a:r>
              <a:rPr lang="en-PK" sz="1200" b="1" dirty="0"/>
              <a:t>-SSD for Edge-Based Surveillance Systems,"</a:t>
            </a:r>
            <a:r>
              <a:rPr lang="en-PK" sz="1200" dirty="0"/>
              <a:t> </a:t>
            </a:r>
            <a:r>
              <a:rPr lang="en-PK" sz="1200" i="1" dirty="0"/>
              <a:t>International Journal of Advanced Computer Science and Applications</a:t>
            </a:r>
            <a:r>
              <a:rPr lang="en-PK" sz="1200" dirty="0"/>
              <a:t>, vol. 15, no. 3, 2024.</a:t>
            </a: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rgbClr val="FF0000"/>
                </a:solidFill>
              </a:rPr>
              <a:t>[7]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https://medium.com/@moncefboujou96/omni-scale-feature-learning-for-person-re-identification-6e09df1c9a1a </a:t>
            </a:r>
            <a:endParaRPr lang="en-PK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46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6FAF"/>
          </a:solidFill>
          <a:ln w="12700">
            <a:solidFill>
              <a:srgbClr val="1E6FAF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E8F7"/>
                </a:solidFill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9050">
            <a:solidFill>
              <a:srgbClr val="1E6FAF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Muhammad Wajid Jamal   ·   Muhammad Usman Shah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346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Department of Electrical Engineering, Namal University, Mianwali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6210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Supervised by Dr. Mudassar Raza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3244</TotalTime>
  <Words>1043</Words>
  <Application>Microsoft Office PowerPoint</Application>
  <PresentationFormat>On-screen Show (16:9)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Brown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Re-Identification for Crowd Management</dc:title>
  <dc:subject>Final Year Project — Electrical Engineering, Namal University</dc:subject>
  <dc:creator>Muhammad Wajid Jamal &amp; Muhammad Usman Shah</dc:creator>
  <cp:lastModifiedBy>BSEE22f24</cp:lastModifiedBy>
  <cp:revision>23</cp:revision>
  <dcterms:created xsi:type="dcterms:W3CDTF">2026-06-26T20:51:39Z</dcterms:created>
  <dcterms:modified xsi:type="dcterms:W3CDTF">2026-06-29T03:05:37Z</dcterms:modified>
</cp:coreProperties>
</file>